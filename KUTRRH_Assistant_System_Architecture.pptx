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02920" y="1874519"/>
            <a:ext cx="201168" cy="201168"/>
          </a:xfrm>
          <a:prstGeom prst="diamond">
            <a:avLst/>
          </a:prstGeom>
          <a:solidFill>
            <a:srgbClr val="0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0E7A72"/>
                </a:solidFill>
                <a:latin typeface="Consolas"/>
              </a:rPr>
              <a:t>AS-BUILT ARCHITECTURE  ·  DERIVED FROM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Calibri"/>
              </a:rPr>
              <a:t>KUTRRH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290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 i="0">
                <a:solidFill>
                  <a:srgbClr val="BFCBD2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400" b="0" i="0">
                <a:solidFill>
                  <a:srgbClr val="8B97A3"/>
                </a:solidFill>
                <a:latin typeface="Calibri"/>
              </a:rPr>
              <a:t>A multilingual conversational assistant for KUTRRH: books appointments against a
trained queue-congestion model, and answers hospital questions from an official
document knowledge base. Mapped directly from the codebase — file by file.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5989320"/>
            <a:ext cx="4983480" cy="0"/>
          </a:xfrm>
          <a:prstGeom prst="line">
            <a:avLst/>
          </a:prstGeom>
          <a:ln w="12700">
            <a:solidFill>
              <a:srgbClr val="2A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10819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8B97A3"/>
                </a:solidFill>
                <a:latin typeface="Consolas"/>
              </a:rPr>
              <a:t>Kenyatta University Teaching, Referral and Research Hospital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E7A72"/>
                </a:solidFill>
                <a:latin typeface="Consolas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675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1B1F"/>
                </a:solidFill>
                <a:latin typeface="Calibri"/>
              </a:rPr>
              <a:t>What this deck covers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44168"/>
            <a:ext cx="11183112" cy="0"/>
          </a:xfrm>
          <a:prstGeom prst="line">
            <a:avLst/>
          </a:prstGeom>
          <a:ln w="12700">
            <a:solidFill>
              <a:srgbClr val="D7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55448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0E7A72"/>
                </a:solidFill>
                <a:latin typeface="Consolas"/>
              </a:rPr>
              <a:t>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38528"/>
            <a:ext cx="2697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0" i="0">
                <a:solidFill>
                  <a:srgbClr val="171B1F"/>
                </a:solidFill>
                <a:latin typeface="Calibri"/>
              </a:rPr>
              <a:t>•  01 · Overview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0" i="0">
                <a:solidFill>
                  <a:srgbClr val="171B1F"/>
                </a:solidFill>
                <a:latin typeface="Calibri"/>
              </a:rPr>
              <a:t>•  02 · Architecture at a glance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0" i="0">
                <a:solidFill>
                  <a:srgbClr val="171B1F"/>
                </a:solidFill>
                <a:latin typeface="Calibri"/>
              </a:rPr>
              <a:t>•  03–05 · Component 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55448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0E7A72"/>
                </a:solidFill>
                <a:latin typeface="Consolas"/>
              </a:rPr>
              <a:t>BEHAVIOUR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938528"/>
            <a:ext cx="2697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0" i="0">
                <a:solidFill>
                  <a:srgbClr val="171B1F"/>
                </a:solidFill>
                <a:latin typeface="Calibri"/>
              </a:rPr>
              <a:t>•  06 · Conversational control flow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0" i="0">
                <a:solidFill>
                  <a:srgbClr val="171B1F"/>
                </a:solidFill>
                <a:latin typeface="Calibri"/>
              </a:rPr>
              <a:t>•  07 · Flow — booking a slot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0" i="0">
                <a:solidFill>
                  <a:srgbClr val="171B1F"/>
                </a:solidFill>
                <a:latin typeface="Calibri"/>
              </a:rPr>
              <a:t>•  08 · Flow — hospital-info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55448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0E7A72"/>
                </a:solidFill>
                <a:latin typeface="Consolas"/>
              </a:rPr>
              <a:t>SUBSYSTEMS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938528"/>
            <a:ext cx="2697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0" i="0">
                <a:solidFill>
                  <a:srgbClr val="171B1F"/>
                </a:solidFill>
                <a:latin typeface="Calibri"/>
              </a:rPr>
              <a:t>•  09 · Queue prediction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0" i="0">
                <a:solidFill>
                  <a:srgbClr val="171B1F"/>
                </a:solidFill>
                <a:latin typeface="Calibri"/>
              </a:rPr>
              <a:t>•  10 · Knowledge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155448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0E7A72"/>
                </a:solidFill>
                <a:latin typeface="Consolas"/>
              </a:rPr>
              <a:t>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1938528"/>
            <a:ext cx="2697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0" i="0">
                <a:solidFill>
                  <a:srgbClr val="171B1F"/>
                </a:solidFill>
                <a:latin typeface="Calibri"/>
              </a:rPr>
              <a:t>•  11 · Data &amp; persistence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0" i="0">
                <a:solidFill>
                  <a:srgbClr val="171B1F"/>
                </a:solidFill>
                <a:latin typeface="Calibri"/>
              </a:rPr>
              <a:t>•  12 · Admin &amp; analytics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0" i="0">
                <a:solidFill>
                  <a:srgbClr val="171B1F"/>
                </a:solidFill>
                <a:latin typeface="Calibri"/>
              </a:rPr>
              <a:t>•  13 · Configuration &amp; secrets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0" i="0">
                <a:solidFill>
                  <a:srgbClr val="171B1F"/>
                </a:solidFill>
                <a:latin typeface="Calibri"/>
              </a:rPr>
              <a:t>•  14 · Deployment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0" i="0">
                <a:solidFill>
                  <a:srgbClr val="171B1F"/>
                </a:solidFill>
                <a:latin typeface="Calibri"/>
              </a:rPr>
              <a:t>•  15–16 · Known gaps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0" i="0">
                <a:solidFill>
                  <a:srgbClr val="171B1F"/>
                </a:solidFill>
                <a:latin typeface="Calibri"/>
              </a:rPr>
              <a:t>•  17 · Technology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onsolas"/>
              </a:rPr>
              <a:t>KUTRRH Assistant — System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B6672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E7A72"/>
                </a:solidFill>
                <a:latin typeface="Consolas"/>
              </a:rPr>
              <a:t>01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675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1B1F"/>
                </a:solidFill>
                <a:latin typeface="Calibri"/>
              </a:rPr>
              <a:t>Three decisions define almost everything else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44168"/>
            <a:ext cx="11183112" cy="0"/>
          </a:xfrm>
          <a:prstGeom prst="line">
            <a:avLst/>
          </a:prstGeom>
          <a:ln w="12700">
            <a:solidFill>
              <a:srgbClr val="D7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1554480"/>
            <a:ext cx="3639312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0" i="0">
                <a:solidFill>
                  <a:srgbClr val="171B1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CFE7E4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423160"/>
            <a:ext cx="312724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50" b="1" i="0">
                <a:solidFill>
                  <a:srgbClr val="171B1F"/>
                </a:solidFill>
                <a:latin typeface="Calibri"/>
              </a:rPr>
              <a:t>The LLM is a fallback, not a router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250" b="0" i="0">
                <a:solidFill>
                  <a:srgbClr val="5B6672"/>
                </a:solidFill>
                <a:latin typeface="Calibri"/>
              </a:rPr>
              <a:t>agent.py decides intent with regexes and keyword lists before it ever calls gpt-oss-120b. The model is invoked only when no deterministic branch recognizes the input.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554480"/>
            <a:ext cx="3639312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0" i="0">
                <a:solidFill>
                  <a:srgbClr val="171B1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7830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CFE7E4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2423160"/>
            <a:ext cx="312724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50" b="1" i="0">
                <a:solidFill>
                  <a:srgbClr val="171B1F"/>
                </a:solidFill>
                <a:latin typeface="Calibri"/>
              </a:rPr>
              <a:t>Prediction and retrieval never touch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250" b="0" i="0">
                <a:solidFill>
                  <a:srgbClr val="5B6672"/>
                </a:solidFill>
                <a:latin typeface="Calibri"/>
              </a:rPr>
              <a:t>Queue congestion comes from a TCN trained on 144,204 real KUTRRH visit records. Hospital facts come from a FAISS index over PDFs and web pages. Separate subsystems, separate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7304" y="1554480"/>
            <a:ext cx="3639312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0" i="0">
                <a:solidFill>
                  <a:srgbClr val="171B1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5904" y="17830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CFE7E4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3336" y="2423160"/>
            <a:ext cx="312724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50" b="1" i="0">
                <a:solidFill>
                  <a:srgbClr val="171B1F"/>
                </a:solidFill>
                <a:latin typeface="Calibri"/>
              </a:rPr>
              <a:t>The frontend never talks to the model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250" b="0" i="0">
                <a:solidFill>
                  <a:srgbClr val="5B6672"/>
                </a:solidFill>
                <a:latin typeface="Calibri"/>
              </a:rPr>
              <a:t>Streamlit is a thin client over a FastAPI service. Everything stateful — appointments, the vector store, the trained model, admin auth, analytics — lives behind that API.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onsolas"/>
              </a:rPr>
              <a:t>KUTRRH Assistant — System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B6672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E7A72"/>
                </a:solidFill>
                <a:latin typeface="Consolas"/>
              </a:rPr>
              <a:t>02 · ARCHITECTURE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675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1B1F"/>
                </a:solidFill>
                <a:latin typeface="Calibri"/>
              </a:rPr>
              <a:t>Every request funnels through one API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44168"/>
            <a:ext cx="11183112" cy="0"/>
          </a:xfrm>
          <a:prstGeom prst="line">
            <a:avLst/>
          </a:prstGeom>
          <a:ln w="12700">
            <a:solidFill>
              <a:srgbClr val="D7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0" y="1600200"/>
            <a:ext cx="20116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50" b="1" i="0">
                <a:solidFill>
                  <a:srgbClr val="171B1F"/>
                </a:solidFill>
                <a:latin typeface="Calibri"/>
              </a:rPr>
              <a:t>Streamlit UI</a:t>
            </a:r>
          </a:p>
          <a:p>
            <a:pPr algn="ctr"/>
            <a:r>
              <a:rPr sz="1050" b="0" i="0">
                <a:solidFill>
                  <a:srgbClr val="5B6672"/>
                </a:solidFill>
                <a:latin typeface="Consolas"/>
              </a:rPr>
              <a:t>app.py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1600200"/>
            <a:ext cx="2286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50" b="1" i="0">
                <a:solidFill>
                  <a:srgbClr val="171B1F"/>
                </a:solidFill>
                <a:latin typeface="Calibri"/>
              </a:rPr>
              <a:t>FastAPI backend</a:t>
            </a:r>
          </a:p>
          <a:p>
            <a:pPr algn="ctr"/>
            <a:r>
              <a:rPr sz="1050" b="0" i="0">
                <a:solidFill>
                  <a:srgbClr val="5B6672"/>
                </a:solidFill>
                <a:latin typeface="Consolas"/>
              </a:rPr>
              <a:t>backend_api.py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600200"/>
            <a:ext cx="2194560" cy="868680"/>
          </a:xfrm>
          <a:prstGeom prst="roundRect">
            <a:avLst/>
          </a:prstGeom>
          <a:solidFill>
            <a:srgbClr val="E3F3F1"/>
          </a:solidFill>
          <a:ln w="12700"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50" b="1" i="0">
                <a:solidFill>
                  <a:srgbClr val="171B1F"/>
                </a:solidFill>
                <a:latin typeface="Calibri"/>
              </a:rPr>
              <a:t>Agent</a:t>
            </a:r>
          </a:p>
          <a:p>
            <a:pPr algn="ctr"/>
            <a:r>
              <a:rPr sz="1050" b="0" i="0">
                <a:solidFill>
                  <a:srgbClr val="5B6672"/>
                </a:solidFill>
                <a:latin typeface="Consolas"/>
              </a:rPr>
              <a:t>agent.py + LangGraph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600200"/>
            <a:ext cx="3154680" cy="868680"/>
          </a:xfrm>
          <a:prstGeom prst="roundRect">
            <a:avLst/>
          </a:prstGeom>
          <a:solidFill>
            <a:srgbClr val="11161B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Groq API</a:t>
            </a:r>
          </a:p>
          <a:p>
            <a:pPr algn="ctr"/>
            <a:r>
              <a:rPr sz="1050" b="0" i="0">
                <a:solidFill>
                  <a:srgbClr val="9FC9C3"/>
                </a:solidFill>
                <a:latin typeface="Consolas"/>
              </a:rPr>
              <a:t>openai/gpt-oss-120b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971800"/>
            <a:ext cx="2697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171B1F"/>
                </a:solidFill>
                <a:latin typeface="Calibri"/>
              </a:rPr>
              <a:t>Booking tools</a:t>
            </a:r>
          </a:p>
          <a:p>
            <a:pPr algn="ctr"/>
            <a:r>
              <a:rPr sz="950" b="0" i="0">
                <a:solidFill>
                  <a:srgbClr val="5B6672"/>
                </a:solidFill>
                <a:latin typeface="Consolas"/>
              </a:rPr>
              <a:t>enhanced_tools.py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971800"/>
            <a:ext cx="2697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171B1F"/>
                </a:solidFill>
                <a:latin typeface="Calibri"/>
              </a:rPr>
              <a:t>Hospital-info tool</a:t>
            </a:r>
          </a:p>
          <a:p>
            <a:pPr algn="ctr"/>
            <a:r>
              <a:rPr sz="950" b="0" i="0">
                <a:solidFill>
                  <a:srgbClr val="5B6672"/>
                </a:solidFill>
                <a:latin typeface="Consolas"/>
              </a:rPr>
              <a:t>hospital_tools.py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4206240"/>
            <a:ext cx="2697480" cy="731520"/>
          </a:xfrm>
          <a:prstGeom prst="roundRect">
            <a:avLst/>
          </a:prstGeom>
          <a:solidFill>
            <a:srgbClr val="EBEFF1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 i="0">
                <a:solidFill>
                  <a:srgbClr val="171B1F"/>
                </a:solidFill>
                <a:latin typeface="Calibri"/>
              </a:rPr>
              <a:t>Queue predictor</a:t>
            </a:r>
          </a:p>
          <a:p>
            <a:pPr algn="ctr"/>
            <a:r>
              <a:rPr sz="900" b="0" i="0">
                <a:solidFill>
                  <a:srgbClr val="5B6672"/>
                </a:solidFill>
                <a:latin typeface="Consolas"/>
              </a:rPr>
              <a:t>TCN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4206240"/>
            <a:ext cx="2697480" cy="731520"/>
          </a:xfrm>
          <a:prstGeom prst="roundRect">
            <a:avLst/>
          </a:prstGeom>
          <a:solidFill>
            <a:srgbClr val="EBEFF1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 i="0">
                <a:solidFill>
                  <a:srgbClr val="171B1F"/>
                </a:solidFill>
                <a:latin typeface="Calibri"/>
              </a:rPr>
              <a:t>FAISS retriever</a:t>
            </a:r>
          </a:p>
          <a:p>
            <a:pPr algn="ctr"/>
            <a:r>
              <a:rPr sz="900" b="0" i="0">
                <a:solidFill>
                  <a:srgbClr val="5B6672"/>
                </a:solidFill>
                <a:latin typeface="Consolas"/>
              </a:rPr>
              <a:t>hospital_retriever.py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5394960"/>
            <a:ext cx="5760720" cy="777240"/>
          </a:xfrm>
          <a:prstGeom prst="roundRect">
            <a:avLst/>
          </a:prstGeom>
          <a:solidFill>
            <a:srgbClr val="EBEFF1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0" i="0">
                <a:solidFill>
                  <a:srgbClr val="171B1F"/>
                </a:solidFill>
                <a:latin typeface="Calibri"/>
              </a:rPr>
              <a:t>Persistence — appointments.json · hospital_vector_store/ · analytics *.jsonl · admin_users.json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68880" y="2034540"/>
            <a:ext cx="228600" cy="0"/>
          </a:xfrm>
          <a:prstGeom prst="line">
            <a:avLst/>
          </a:prstGeom>
          <a:ln w="19050">
            <a:solidFill>
              <a:srgbClr val="0E7A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83480" y="2034540"/>
            <a:ext cx="228600" cy="0"/>
          </a:xfrm>
          <a:prstGeom prst="line">
            <a:avLst/>
          </a:prstGeom>
          <a:ln w="19050">
            <a:solidFill>
              <a:srgbClr val="0E7A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06640" y="2034540"/>
            <a:ext cx="685800" cy="0"/>
          </a:xfrm>
          <a:prstGeom prst="line">
            <a:avLst/>
          </a:prstGeom>
          <a:ln w="19050">
            <a:solidFill>
              <a:srgbClr val="5B6672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34071" y="1915668"/>
            <a:ext cx="630936" cy="237744"/>
          </a:xfrm>
          <a:prstGeom prst="rect">
            <a:avLst/>
          </a:prstGeom>
          <a:solidFill>
            <a:srgbClr val="FAFBFB"/>
          </a:solidFill>
        </p:spPr>
        <p:txBody>
          <a:bodyPr wrap="none" lIns="12700" rIns="12700" tIns="0" bIns="0">
            <a:spAutoFit/>
          </a:bodyPr>
          <a:lstStyle/>
          <a:p>
            <a:pPr algn="ctr"/>
            <a:r>
              <a:rPr sz="900" b="0" i="0">
                <a:solidFill>
                  <a:srgbClr val="5B6672"/>
                </a:solidFill>
                <a:latin typeface="Consolas"/>
              </a:rPr>
              <a:t>chat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5783579" y="2468880"/>
            <a:ext cx="196597" cy="502920"/>
          </a:xfrm>
          <a:prstGeom prst="line">
            <a:avLst/>
          </a:prstGeom>
          <a:ln w="19050">
            <a:solidFill>
              <a:srgbClr val="0E7A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30417" y="2601468"/>
            <a:ext cx="502920" cy="237744"/>
          </a:xfrm>
          <a:prstGeom prst="rect">
            <a:avLst/>
          </a:prstGeom>
          <a:solidFill>
            <a:srgbClr val="FAFBFB"/>
          </a:solidFill>
        </p:spPr>
        <p:txBody>
          <a:bodyPr wrap="none" lIns="12700" rIns="12700" tIns="0" bIns="0">
            <a:spAutoFit/>
          </a:bodyPr>
          <a:lstStyle/>
          <a:p>
            <a:pPr algn="ctr"/>
            <a:r>
              <a:rPr sz="900" b="0" i="0">
                <a:solidFill>
                  <a:srgbClr val="5B6672"/>
                </a:solidFill>
                <a:latin typeface="Consolas"/>
              </a:rPr>
              <a:t>tool call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0" y="2468880"/>
            <a:ext cx="1988819" cy="502920"/>
          </a:xfrm>
          <a:prstGeom prst="line">
            <a:avLst/>
          </a:prstGeom>
          <a:ln w="19050">
            <a:solidFill>
              <a:srgbClr val="0E7A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83579" y="3749039"/>
            <a:ext cx="0" cy="457201"/>
          </a:xfrm>
          <a:prstGeom prst="line">
            <a:avLst/>
          </a:prstGeom>
          <a:ln w="19050">
            <a:solidFill>
              <a:srgbClr val="0E7A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846819" y="3749039"/>
            <a:ext cx="0" cy="457201"/>
          </a:xfrm>
          <a:prstGeom prst="line">
            <a:avLst/>
          </a:prstGeom>
          <a:ln w="19050">
            <a:solidFill>
              <a:srgbClr val="0E7A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8723376" y="2468880"/>
            <a:ext cx="1472183" cy="736092"/>
          </a:xfrm>
          <a:prstGeom prst="line">
            <a:avLst/>
          </a:prstGeom>
          <a:ln w="19050">
            <a:solidFill>
              <a:srgbClr val="5B6672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782263" y="2718054"/>
            <a:ext cx="1354409" cy="237744"/>
          </a:xfrm>
          <a:prstGeom prst="rect">
            <a:avLst/>
          </a:prstGeom>
          <a:solidFill>
            <a:srgbClr val="FAFBFB"/>
          </a:solidFill>
        </p:spPr>
        <p:txBody>
          <a:bodyPr wrap="none" lIns="12700" rIns="12700" tIns="0" bIns="0">
            <a:spAutoFit/>
          </a:bodyPr>
          <a:lstStyle/>
          <a:p>
            <a:pPr algn="ctr"/>
            <a:r>
              <a:rPr sz="900" b="0" i="0">
                <a:solidFill>
                  <a:srgbClr val="5B6672"/>
                </a:solidFill>
                <a:latin typeface="Consolas"/>
              </a:rPr>
              <a:t>extraction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783579" y="4937759"/>
            <a:ext cx="91441" cy="457201"/>
          </a:xfrm>
          <a:prstGeom prst="line">
            <a:avLst/>
          </a:prstGeom>
          <a:ln w="19050">
            <a:solidFill>
              <a:srgbClr val="0E7A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8755380" y="4937759"/>
            <a:ext cx="91439" cy="457201"/>
          </a:xfrm>
          <a:prstGeom prst="line">
            <a:avLst/>
          </a:prstGeom>
          <a:ln w="19050">
            <a:solidFill>
              <a:srgbClr val="0E7A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1">
                <a:solidFill>
                  <a:srgbClr val="5B6672"/>
                </a:solidFill>
                <a:latin typeface="Calibri"/>
              </a:rPr>
              <a:t>The agent calls Groq for conversation; hospital_tools.py makes its own separate Groq call for passage extraction.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onsolas"/>
              </a:rPr>
              <a:t>KUTRRH Assistant — System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B6672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E7A72"/>
                </a:solidFill>
                <a:latin typeface="Consolas"/>
              </a:rPr>
              <a:t>03 · COMPONENT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675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1B1F"/>
                </a:solidFill>
                <a:latin typeface="Calibri"/>
              </a:rPr>
              <a:t>Presentation, API &amp; orchestration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44168"/>
            <a:ext cx="11183112" cy="0"/>
          </a:xfrm>
          <a:prstGeom prst="line">
            <a:avLst/>
          </a:prstGeom>
          <a:ln w="12700">
            <a:solidFill>
              <a:srgbClr val="D7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112014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194560"/>
                <a:gridCol w="7086600"/>
              </a:tblGrid>
              <a:tr h="66294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onsolas"/>
                        </a:rPr>
                        <a:t>Component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onsolas"/>
                        </a:rPr>
                        <a:t>File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onsolas"/>
                        </a:rPr>
                        <a:t>Responsibility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71B1F"/>
                          </a:solidFill>
                          <a:latin typeface="Calibri"/>
                        </a:rPr>
                        <a:t>Streamlit UI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71B1F"/>
                          </a:solidFill>
                          <a:latin typeface="Consolas"/>
                        </a:rPr>
                        <a:t>app.py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71B1F"/>
                          </a:solidFill>
                          <a:latin typeface="Calibri"/>
                        </a:rPr>
                        <a:t>Chat pane, live appointment dashboard, quick-add form. Talks to the backend only over HTTP.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71B1F"/>
                          </a:solidFill>
                          <a:latin typeface="Calibri"/>
                        </a:rPr>
                        <a:t>API gateway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71B1F"/>
                          </a:solidFill>
                          <a:latin typeface="Consolas"/>
                        </a:rPr>
                        <a:t>backend_api.py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71B1F"/>
                          </a:solidFill>
                          <a:latin typeface="Calibri"/>
                        </a:rPr>
                        <a:t>FastAPI app: chat, appointment CRUD, slot recommendations, admin auth &amp; analytics.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71B1F"/>
                          </a:solidFill>
                          <a:latin typeface="Calibri"/>
                        </a:rPr>
                        <a:t>Conversational agent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71B1F"/>
                          </a:solidFill>
                          <a:latin typeface="Consolas"/>
                        </a:rPr>
                        <a:t>agent.py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71B1F"/>
                          </a:solidFill>
                          <a:latin typeface="Calibri"/>
                        </a:rPr>
                        <a:t>Language detection, intent routing, deterministic booking sub-flow, 2-node LangGraph loop.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5262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0E7A72"/>
                </a:solidFill>
                <a:latin typeface="Consolas"/>
              </a:rPr>
              <a:t>TOOL LAYER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4892040"/>
          <a:ext cx="11201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194560"/>
                <a:gridCol w="7086600"/>
              </a:tblGrid>
              <a:tr h="4876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onsolas"/>
                        </a:rPr>
                        <a:t>Component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onsolas"/>
                        </a:rPr>
                        <a:t>File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onsolas"/>
                        </a:rPr>
                        <a:t>Responsibility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71B1F"/>
                          </a:solidFill>
                          <a:latin typeface="Calibri"/>
                        </a:rPr>
                        <a:t>Booking tools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71B1F"/>
                          </a:solidFill>
                          <a:latin typeface="Consolas"/>
                        </a:rPr>
                        <a:t>enhanced_tools.py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71B1F"/>
                          </a:solidFill>
                          <a:latin typeface="Calibri"/>
                        </a:rPr>
                        <a:t>9 @tool functions wrapping the recommender and the appointments store.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71B1F"/>
                          </a:solidFill>
                          <a:latin typeface="Calibri"/>
                        </a:rPr>
                        <a:t>Hospital info tool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71B1F"/>
                          </a:solidFill>
                          <a:latin typeface="Consolas"/>
                        </a:rPr>
                        <a:t>hospital_tools.py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71B1F"/>
                          </a:solidFill>
                          <a:latin typeface="Calibri"/>
                        </a:rPr>
                        <a:t>Query expansion, FAISS retrieval, domain re-ranking, LLM extraction with citation.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onsolas"/>
              </a:rPr>
              <a:t>KUTRRH Assistant — System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B6672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E7A72"/>
                </a:solidFill>
                <a:latin typeface="Consolas"/>
              </a:rPr>
              <a:t>04 · COMPONENT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675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1B1F"/>
                </a:solidFill>
                <a:latin typeface="Calibri"/>
              </a:rPr>
              <a:t>Subsystems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44168"/>
            <a:ext cx="11183112" cy="0"/>
          </a:xfrm>
          <a:prstGeom prst="line">
            <a:avLst/>
          </a:prstGeom>
          <a:ln w="12700">
            <a:solidFill>
              <a:srgbClr val="D7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39"/>
          <a:ext cx="11201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377440"/>
                <a:gridCol w="6903720"/>
              </a:tblGrid>
              <a:tr h="768096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onsolas"/>
                        </a:rPr>
                        <a:t>Component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onsolas"/>
                        </a:rPr>
                        <a:t>File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onsolas"/>
                        </a:rPr>
                        <a:t>Responsibility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71B1F"/>
                          </a:solidFill>
                          <a:latin typeface="Calibri"/>
                        </a:rPr>
                        <a:t>Queue predictor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71B1F"/>
                          </a:solidFill>
                          <a:latin typeface="Consolas"/>
                        </a:rPr>
                        <a:t>scheduling_model.py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71B1F"/>
                          </a:solidFill>
                          <a:latin typeface="Calibri"/>
                        </a:rPr>
                        <a:t>SchedulingPredictor: loads the trained .h5 TCN, extracts temporal features, falls back to a heuristic if the model can't load.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71B1F"/>
                          </a:solidFill>
                          <a:latin typeface="Calibri"/>
                        </a:rPr>
                        <a:t>Recommendation engine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71B1F"/>
                          </a:solidFill>
                          <a:latin typeface="Consolas"/>
                        </a:rPr>
                        <a:t>appointment_recommender.py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71B1F"/>
                          </a:solidFill>
                          <a:latin typeface="Calibri"/>
                        </a:rPr>
                        <a:t>Batches predictions across a day, categorizes Low/Moderate/High, builds alternative-slot suggestions.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71B1F"/>
                          </a:solidFill>
                          <a:latin typeface="Calibri"/>
                        </a:rPr>
                        <a:t>KB retriever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71B1F"/>
                          </a:solidFill>
                          <a:latin typeface="Consolas"/>
                        </a:rPr>
                        <a:t>hospital_retriever.py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71B1F"/>
                          </a:solidFill>
                          <a:latin typeface="Calibri"/>
                        </a:rPr>
                        <a:t>PDF loading, Selenium scraping for JS-heavy pages, chunking, FAISS index build/query.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71B1F"/>
                          </a:solidFill>
                          <a:latin typeface="Calibri"/>
                        </a:rPr>
                        <a:t>KB bootstrap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71B1F"/>
                          </a:solidFill>
                          <a:latin typeface="Consolas"/>
                        </a:rPr>
                        <a:t>hospital_setup.py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71B1F"/>
                          </a:solidFill>
                          <a:latin typeface="Calibri"/>
                        </a:rPr>
                        <a:t>Builds or rebuilds the vector store from hospital_docs/ and a fixed list of KUTRRH URLs.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onsolas"/>
              </a:rPr>
              <a:t>KUTRRH Assistant —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B6672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E7A72"/>
                </a:solidFill>
                <a:latin typeface="Consolas"/>
              </a:rPr>
              <a:t>05 · COMPONENT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675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1B1F"/>
                </a:solidFill>
                <a:latin typeface="Calibri"/>
              </a:rPr>
              <a:t>Persistence &amp; cross-cutting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44168"/>
            <a:ext cx="11183112" cy="0"/>
          </a:xfrm>
          <a:prstGeom prst="line">
            <a:avLst/>
          </a:prstGeom>
          <a:ln w="12700">
            <a:solidFill>
              <a:srgbClr val="D7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39"/>
          <a:ext cx="11201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743200"/>
                <a:gridCol w="6537960"/>
              </a:tblGrid>
              <a:tr h="746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onsolas"/>
                        </a:rPr>
                        <a:t>Component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onsolas"/>
                        </a:rPr>
                        <a:t>File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onsolas"/>
                        </a:rPr>
                        <a:t>Responsibility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71B1F"/>
                          </a:solidFill>
                          <a:latin typeface="Calibri"/>
                        </a:rPr>
                        <a:t>Appointments store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71B1F"/>
                          </a:solidFill>
                          <a:latin typeface="Consolas"/>
                        </a:rPr>
                        <a:t>appointments_db.py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71B1F"/>
                          </a:solidFill>
                          <a:latin typeface="Calibri"/>
                        </a:rPr>
                        <a:t>Flat-file JSON CRUD, conflict detection, stats, booking-trend and patient analytics.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71B1F"/>
                          </a:solidFill>
                          <a:latin typeface="Calibri"/>
                        </a:rPr>
                        <a:t>Admin auth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71B1F"/>
                          </a:solidFill>
                          <a:latin typeface="Consolas"/>
                        </a:rPr>
                        <a:t>auth.py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71B1F"/>
                          </a:solidFill>
                          <a:latin typeface="Calibri"/>
                        </a:rPr>
                        <a:t>SHA-256 password hashing, bearer-token issuance/verification, 7-day expiry.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71B1F"/>
                          </a:solidFill>
                          <a:latin typeface="Calibri"/>
                        </a:rPr>
                        <a:t>Analytics logger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71B1F"/>
                          </a:solidFill>
                          <a:latin typeface="Consolas"/>
                        </a:rPr>
                        <a:t>analytics_logger.py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71B1F"/>
                          </a:solidFill>
                          <a:latin typeface="Calibri"/>
                        </a:rPr>
                        <a:t>Append-only JSONL for chat and KB events; aggregation for the admin dashboard.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71B1F"/>
                          </a:solidFill>
                          <a:latin typeface="Calibri"/>
                        </a:rPr>
                        <a:t>Structured logger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71B1F"/>
                          </a:solidFill>
                          <a:latin typeface="Consolas"/>
                        </a:rPr>
                        <a:t>logger.py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71B1F"/>
                          </a:solidFill>
                          <a:latin typeface="Calibri"/>
                        </a:rPr>
                        <a:t>Rotating file handler (10 MB × 5) + UTF-8 console handler, shared by every module.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71B1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71B1F"/>
                          </a:solidFill>
                          <a:latin typeface="Consolas"/>
                        </a:rPr>
                        <a:t>config.py / constants.py / settings.yaml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71B1F"/>
                          </a:solidFill>
                          <a:latin typeface="Calibri"/>
                        </a:rPr>
                        <a:t>LLM model name, system prompt template, GROQ_API_KEY loading &amp; validation.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onsolas"/>
              </a:rPr>
              <a:t>KUTRRH Assistant —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B6672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E7A72"/>
                </a:solidFill>
                <a:latin typeface="Consolas"/>
              </a:rPr>
              <a:t>06 · CONVERSATIONAL CONTROL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675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1B1F"/>
                </a:solidFill>
                <a:latin typeface="Calibri"/>
              </a:rPr>
              <a:t>The model is asked last, not first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44168"/>
            <a:ext cx="11183112" cy="0"/>
          </a:xfrm>
          <a:prstGeom prst="line">
            <a:avLst/>
          </a:prstGeom>
          <a:ln w="12700">
            <a:solidFill>
              <a:srgbClr val="D7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1600200"/>
            <a:ext cx="2834640" cy="713232"/>
          </a:xfrm>
          <a:prstGeom prst="roundRect">
            <a:avLst/>
          </a:prstGeom>
          <a:solidFill>
            <a:srgbClr val="E3F3F1"/>
          </a:solidFill>
          <a:ln w="12700"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 i="0">
                <a:solidFill>
                  <a:srgbClr val="171B1F"/>
                </a:solidFill>
                <a:latin typeface="Calibri"/>
              </a:rPr>
              <a:t>Hospital-info keywords?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36776"/>
            <a:ext cx="41605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150" b="0" i="0">
                <a:solidFill>
                  <a:srgbClr val="171B1F"/>
                </a:solidFill>
                <a:latin typeface="Calibri"/>
              </a:rPr>
              <a:t>search_hospital_information() — direct call, bypasses the LLM entirely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37560" y="1956816"/>
            <a:ext cx="1097280" cy="0"/>
          </a:xfrm>
          <a:prstGeom prst="line">
            <a:avLst/>
          </a:prstGeom>
          <a:ln w="19050">
            <a:solidFill>
              <a:srgbClr val="0E7A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81451" y="1837944"/>
            <a:ext cx="1009497" cy="237744"/>
          </a:xfrm>
          <a:prstGeom prst="rect">
            <a:avLst/>
          </a:prstGeom>
          <a:solidFill>
            <a:srgbClr val="FAFBFB"/>
          </a:solidFill>
        </p:spPr>
        <p:txBody>
          <a:bodyPr wrap="none" lIns="12700" rIns="12700" tIns="0" bIns="0">
            <a:spAutoFit/>
          </a:bodyPr>
          <a:lstStyle/>
          <a:p>
            <a:pPr algn="ctr"/>
            <a:r>
              <a:rPr sz="900" b="0" i="0">
                <a:solidFill>
                  <a:srgbClr val="5B6672"/>
                </a:solidFill>
                <a:latin typeface="Consolas"/>
              </a:rPr>
              <a:t>yes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2313432"/>
            <a:ext cx="0" cy="429768"/>
          </a:xfrm>
          <a:prstGeom prst="line">
            <a:avLst/>
          </a:prstGeom>
          <a:ln w="19050">
            <a:solidFill>
              <a:srgbClr val="5B6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34440" y="2409444"/>
            <a:ext cx="1371600" cy="237744"/>
          </a:xfrm>
          <a:prstGeom prst="rect">
            <a:avLst/>
          </a:prstGeom>
          <a:solidFill>
            <a:srgbClr val="FAFBFB"/>
          </a:solidFill>
        </p:spPr>
        <p:txBody>
          <a:bodyPr wrap="none" lIns="12700" rIns="12700" tIns="0" bIns="0">
            <a:spAutoFit/>
          </a:bodyPr>
          <a:lstStyle/>
          <a:p>
            <a:pPr algn="ctr"/>
            <a:r>
              <a:rPr sz="900" b="0" i="0">
                <a:solidFill>
                  <a:srgbClr val="5B6672"/>
                </a:solidFill>
                <a:latin typeface="Consolas"/>
              </a:rPr>
              <a:t>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43200"/>
            <a:ext cx="2834640" cy="713232"/>
          </a:xfrm>
          <a:prstGeom prst="roundRect">
            <a:avLst/>
          </a:prstGeom>
          <a:solidFill>
            <a:srgbClr val="E3F3F1"/>
          </a:solidFill>
          <a:ln w="12700"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 i="0">
                <a:solidFill>
                  <a:srgbClr val="171B1F"/>
                </a:solidFill>
                <a:latin typeface="Calibri"/>
              </a:rPr>
              <a:t>Booking flow active?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779776"/>
            <a:ext cx="41605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150" b="0" i="0">
                <a:solidFill>
                  <a:srgbClr val="171B1F"/>
                </a:solidFill>
                <a:latin typeface="Calibri"/>
              </a:rPr>
              <a:t>Regex-parse type / date / time / patient details → ask, fetch slots, or book — direct calls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7560" y="3099816"/>
            <a:ext cx="1097280" cy="0"/>
          </a:xfrm>
          <a:prstGeom prst="line">
            <a:avLst/>
          </a:prstGeom>
          <a:ln w="19050">
            <a:solidFill>
              <a:srgbClr val="0E7A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81451" y="2980944"/>
            <a:ext cx="1009497" cy="237744"/>
          </a:xfrm>
          <a:prstGeom prst="rect">
            <a:avLst/>
          </a:prstGeom>
          <a:solidFill>
            <a:srgbClr val="FAFBFB"/>
          </a:solidFill>
        </p:spPr>
        <p:txBody>
          <a:bodyPr wrap="none" lIns="12700" rIns="12700" tIns="0" bIns="0">
            <a:spAutoFit/>
          </a:bodyPr>
          <a:lstStyle/>
          <a:p>
            <a:pPr algn="ctr"/>
            <a:r>
              <a:rPr sz="900" b="0" i="0">
                <a:solidFill>
                  <a:srgbClr val="5B6672"/>
                </a:solidFill>
                <a:latin typeface="Consolas"/>
              </a:rPr>
              <a:t>yes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20240" y="3456432"/>
            <a:ext cx="0" cy="429768"/>
          </a:xfrm>
          <a:prstGeom prst="line">
            <a:avLst/>
          </a:prstGeom>
          <a:ln w="19050">
            <a:solidFill>
              <a:srgbClr val="5B6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34440" y="3552444"/>
            <a:ext cx="1371600" cy="237744"/>
          </a:xfrm>
          <a:prstGeom prst="rect">
            <a:avLst/>
          </a:prstGeom>
          <a:solidFill>
            <a:srgbClr val="FAFBFB"/>
          </a:solidFill>
        </p:spPr>
        <p:txBody>
          <a:bodyPr wrap="none" lIns="12700" rIns="12700" tIns="0" bIns="0">
            <a:spAutoFit/>
          </a:bodyPr>
          <a:lstStyle/>
          <a:p>
            <a:pPr algn="ctr"/>
            <a:r>
              <a:rPr sz="900" b="0" i="0">
                <a:solidFill>
                  <a:srgbClr val="5B6672"/>
                </a:solidFill>
                <a:latin typeface="Consolas"/>
              </a:rPr>
              <a:t>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86200"/>
            <a:ext cx="2834640" cy="713232"/>
          </a:xfrm>
          <a:prstGeom prst="roundRect">
            <a:avLst/>
          </a:prstGeom>
          <a:solidFill>
            <a:srgbClr val="E3F3F1"/>
          </a:solidFill>
          <a:ln w="12700"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 i="0">
                <a:solidFill>
                  <a:srgbClr val="171B1F"/>
                </a:solidFill>
                <a:latin typeface="Calibri"/>
              </a:rPr>
              <a:t>Greeting or social chat?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922776"/>
            <a:ext cx="41605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150" b="0" i="0">
                <a:solidFill>
                  <a:srgbClr val="171B1F"/>
                </a:solidFill>
                <a:latin typeface="Calibri"/>
              </a:rPr>
              <a:t>Canned localized greeting — no model call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37560" y="4242816"/>
            <a:ext cx="1097280" cy="0"/>
          </a:xfrm>
          <a:prstGeom prst="line">
            <a:avLst/>
          </a:prstGeom>
          <a:ln w="19050">
            <a:solidFill>
              <a:srgbClr val="0E7A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81451" y="4123944"/>
            <a:ext cx="1009497" cy="237744"/>
          </a:xfrm>
          <a:prstGeom prst="rect">
            <a:avLst/>
          </a:prstGeom>
          <a:solidFill>
            <a:srgbClr val="FAFBFB"/>
          </a:solidFill>
        </p:spPr>
        <p:txBody>
          <a:bodyPr wrap="none" lIns="12700" rIns="12700" tIns="0" bIns="0">
            <a:spAutoFit/>
          </a:bodyPr>
          <a:lstStyle/>
          <a:p>
            <a:pPr algn="ctr"/>
            <a:r>
              <a:rPr sz="900" b="0" i="0">
                <a:solidFill>
                  <a:srgbClr val="5B6672"/>
                </a:solidFill>
                <a:latin typeface="Consolas"/>
              </a:rPr>
              <a:t>yes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66360"/>
            <a:ext cx="2834640" cy="713232"/>
          </a:xfrm>
          <a:prstGeom prst="roundRect">
            <a:avLst/>
          </a:prstGeom>
          <a:solidFill>
            <a:srgbClr val="11161B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gpt-oss-120b + tool bindings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5120640"/>
            <a:ext cx="416052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150" b="0" i="0">
                <a:solidFill>
                  <a:srgbClr val="171B1F"/>
                </a:solidFill>
                <a:latin typeface="Calibri"/>
              </a:rPr>
              <a:t>LangGraph ToolNode executes the requested tool, then gpt-oss-120b synthesizes the reply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920240" y="4599432"/>
            <a:ext cx="0" cy="566928"/>
          </a:xfrm>
          <a:prstGeom prst="line">
            <a:avLst/>
          </a:prstGeom>
          <a:ln w="19050">
            <a:solidFill>
              <a:srgbClr val="5B6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34440" y="4764024"/>
            <a:ext cx="1371600" cy="237744"/>
          </a:xfrm>
          <a:prstGeom prst="rect">
            <a:avLst/>
          </a:prstGeom>
          <a:solidFill>
            <a:srgbClr val="FAFBFB"/>
          </a:solidFill>
        </p:spPr>
        <p:txBody>
          <a:bodyPr wrap="none" lIns="12700" rIns="12700" tIns="0" bIns="0">
            <a:spAutoFit/>
          </a:bodyPr>
          <a:lstStyle/>
          <a:p>
            <a:pPr algn="ctr"/>
            <a:r>
              <a:rPr sz="900" b="0" i="0">
                <a:solidFill>
                  <a:srgbClr val="5B6672"/>
                </a:solidFill>
                <a:latin typeface="Consolas"/>
              </a:rPr>
              <a:t>no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337560" y="5522976"/>
            <a:ext cx="1097280" cy="0"/>
          </a:xfrm>
          <a:prstGeom prst="line">
            <a:avLst/>
          </a:prstGeom>
          <a:ln w="19050">
            <a:solidFill>
              <a:srgbClr val="0E7A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60807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5B6672"/>
                </a:solidFill>
                <a:latin typeface="Calibri"/>
              </a:rPr>
              <a:t>Simplified to the three top-level gates. Only the bottom path — reached when all three gates decline — ever calls the model.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onsolas"/>
              </a:rPr>
              <a:t>KUTRRH Assistant — System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B6672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E7A72"/>
                </a:solidFill>
                <a:latin typeface="Consolas"/>
              </a:rPr>
              <a:t>07 · FLOW — BOOKING A SLOT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675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1B1F"/>
                </a:solidFill>
                <a:latin typeface="Calibri"/>
              </a:rPr>
              <a:t>The happy path never reaches the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44168"/>
            <a:ext cx="11183112" cy="0"/>
          </a:xfrm>
          <a:prstGeom prst="line">
            <a:avLst/>
          </a:prstGeom>
          <a:ln w="12700">
            <a:solidFill>
              <a:srgbClr val="D7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86384" y="1883664"/>
            <a:ext cx="0" cy="3950208"/>
          </a:xfrm>
          <a:prstGeom prst="line">
            <a:avLst/>
          </a:prstGeom>
          <a:ln w="19050">
            <a:solidFill>
              <a:srgbClr val="D7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94360" y="1691639"/>
            <a:ext cx="384048" cy="384048"/>
          </a:xfrm>
          <a:prstGeom prst="ellipse">
            <a:avLst/>
          </a:prstGeom>
          <a:solidFill>
            <a:srgbClr val="0E7A72"/>
          </a:solidFill>
          <a:ln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1636775"/>
            <a:ext cx="10268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171B1F"/>
                </a:solidFill>
                <a:latin typeface="Calibri"/>
              </a:rPr>
              <a:t>Patient sends a message</a:t>
            </a:r>
          </a:p>
          <a:p>
            <a:pPr>
              <a:spcBef>
                <a:spcPts val="100"/>
              </a:spcBef>
            </a:pPr>
            <a:r>
              <a:rPr sz="1200" b="0" i="0">
                <a:solidFill>
                  <a:srgbClr val="5B6672"/>
                </a:solidFill>
                <a:latin typeface="Calibri"/>
              </a:rPr>
              <a:t>“Book cardiology, Sept 2, 9am” — Streamlit → POST /chat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350008"/>
            <a:ext cx="384048" cy="384048"/>
          </a:xfrm>
          <a:prstGeom prst="ellipse">
            <a:avLst/>
          </a:prstGeom>
          <a:solidFill>
            <a:srgbClr val="0E7A72"/>
          </a:solidFill>
          <a:ln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295144"/>
            <a:ext cx="10268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171B1F"/>
                </a:solidFill>
                <a:latin typeface="Calibri"/>
              </a:rPr>
              <a:t>Booking flow detected</a:t>
            </a:r>
          </a:p>
          <a:p>
            <a:pPr>
              <a:spcBef>
                <a:spcPts val="100"/>
              </a:spcBef>
            </a:pPr>
            <a:r>
              <a:rPr sz="1200" b="0" i="0">
                <a:solidFill>
                  <a:srgbClr val="5B6672"/>
                </a:solidFill>
                <a:latin typeface="Calibri"/>
              </a:rPr>
              <a:t>agent.py: is_booking_flow_active() = true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008376"/>
            <a:ext cx="384048" cy="384048"/>
          </a:xfrm>
          <a:prstGeom prst="ellipse">
            <a:avLst/>
          </a:prstGeom>
          <a:solidFill>
            <a:srgbClr val="0E7A72"/>
          </a:solidFill>
          <a:ln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953512"/>
            <a:ext cx="10268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171B1F"/>
                </a:solidFill>
                <a:latin typeface="Calibri"/>
              </a:rPr>
              <a:t>Deterministic extraction</a:t>
            </a:r>
          </a:p>
          <a:p>
            <a:pPr>
              <a:spcBef>
                <a:spcPts val="100"/>
              </a:spcBef>
            </a:pPr>
            <a:r>
              <a:rPr sz="1200" b="0" i="0">
                <a:solidFill>
                  <a:srgbClr val="5B6672"/>
                </a:solidFill>
                <a:latin typeface="Calibri"/>
              </a:rPr>
              <a:t>Regex pulls type, date, time, and patient details from the message history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666744"/>
            <a:ext cx="384048" cy="384048"/>
          </a:xfrm>
          <a:prstGeom prst="ellipse">
            <a:avLst/>
          </a:prstGeom>
          <a:solidFill>
            <a:srgbClr val="0E7A72"/>
          </a:solidFill>
          <a:ln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611879"/>
            <a:ext cx="10268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171B1F"/>
                </a:solidFill>
                <a:latin typeface="Calibri"/>
              </a:rPr>
              <a:t>Direct tool call</a:t>
            </a:r>
          </a:p>
          <a:p>
            <a:pPr>
              <a:spcBef>
                <a:spcPts val="100"/>
              </a:spcBef>
            </a:pPr>
            <a:r>
              <a:rPr sz="1200" b="0" i="0">
                <a:solidFill>
                  <a:srgbClr val="5B6672"/>
                </a:solidFill>
                <a:latin typeface="Calibri"/>
              </a:rPr>
              <a:t>Once all four patient fields are present, book_appointment() runs — no LLM involved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325112"/>
            <a:ext cx="384048" cy="384048"/>
          </a:xfrm>
          <a:prstGeom prst="ellipse">
            <a:avLst/>
          </a:prstGeom>
          <a:solidFill>
            <a:srgbClr val="0E7A72"/>
          </a:solidFill>
          <a:ln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4270248"/>
            <a:ext cx="10268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171B1F"/>
                </a:solidFill>
                <a:latin typeface="Calibri"/>
              </a:rPr>
              <a:t>Prediction + conflict check</a:t>
            </a:r>
          </a:p>
          <a:p>
            <a:pPr>
              <a:spcBef>
                <a:spcPts val="100"/>
              </a:spcBef>
            </a:pPr>
            <a:r>
              <a:rPr sz="1200" b="0" i="0">
                <a:solidFill>
                  <a:srgbClr val="5B6672"/>
                </a:solidFill>
                <a:latin typeface="Calibri"/>
              </a:rPr>
              <a:t>Tool calls the TCN model for wait time, checks appointments.json for overlaps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4983479"/>
            <a:ext cx="384048" cy="384048"/>
          </a:xfrm>
          <a:prstGeom prst="ellipse">
            <a:avLst/>
          </a:prstGeom>
          <a:solidFill>
            <a:srgbClr val="0E7A72"/>
          </a:solidFill>
          <a:ln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4928616"/>
            <a:ext cx="10268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171B1F"/>
                </a:solidFill>
                <a:latin typeface="Calibri"/>
              </a:rPr>
              <a:t>Write to store</a:t>
            </a:r>
          </a:p>
          <a:p>
            <a:pPr>
              <a:spcBef>
                <a:spcPts val="100"/>
              </a:spcBef>
            </a:pPr>
            <a:r>
              <a:rPr sz="1200" b="0" i="0">
                <a:solidFill>
                  <a:srgbClr val="5B6672"/>
                </a:solidFill>
                <a:latin typeface="Calibri"/>
              </a:rPr>
              <a:t>Appointment saved to appointments.json with a generated ID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5641848"/>
            <a:ext cx="384048" cy="384048"/>
          </a:xfrm>
          <a:prstGeom prst="ellipse">
            <a:avLst/>
          </a:prstGeom>
          <a:solidFill>
            <a:srgbClr val="0E7A72"/>
          </a:solidFill>
          <a:ln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5586984"/>
            <a:ext cx="10268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171B1F"/>
                </a:solidFill>
                <a:latin typeface="Calibri"/>
              </a:rPr>
              <a:t>Confirmation returned</a:t>
            </a:r>
          </a:p>
          <a:p>
            <a:pPr>
              <a:spcBef>
                <a:spcPts val="100"/>
              </a:spcBef>
            </a:pPr>
            <a:r>
              <a:rPr sz="1200" b="0" i="0">
                <a:solidFill>
                  <a:srgbClr val="5B6672"/>
                </a:solidFill>
                <a:latin typeface="Calibri"/>
              </a:rPr>
              <a:t>Predicted wait + congestion level flow back through the API to the 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onsolas"/>
              </a:rPr>
              <a:t>KUTRRH Assistant — System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B6672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E7A72"/>
                </a:solidFill>
                <a:latin typeface="Consolas"/>
              </a:rPr>
              <a:t>08 · FLOW — HOSPITAL-INFO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675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1B1F"/>
                </a:solidFill>
                <a:latin typeface="Calibri"/>
              </a:rPr>
              <a:t>Retrieval before generation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44168"/>
            <a:ext cx="11183112" cy="0"/>
          </a:xfrm>
          <a:prstGeom prst="line">
            <a:avLst/>
          </a:prstGeom>
          <a:ln w="12700">
            <a:solidFill>
              <a:srgbClr val="D7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86384" y="1883664"/>
            <a:ext cx="0" cy="3950208"/>
          </a:xfrm>
          <a:prstGeom prst="line">
            <a:avLst/>
          </a:prstGeom>
          <a:ln w="19050">
            <a:solidFill>
              <a:srgbClr val="D7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94360" y="1691639"/>
            <a:ext cx="384048" cy="384048"/>
          </a:xfrm>
          <a:prstGeom prst="ellipse">
            <a:avLst/>
          </a:prstGeom>
          <a:solidFill>
            <a:srgbClr val="0E7A72"/>
          </a:solidFill>
          <a:ln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1636775"/>
            <a:ext cx="10268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171B1F"/>
                </a:solidFill>
                <a:latin typeface="Calibri"/>
              </a:rPr>
              <a:t>Patient asks a question</a:t>
            </a:r>
          </a:p>
          <a:p>
            <a:pPr>
              <a:spcBef>
                <a:spcPts val="100"/>
              </a:spcBef>
            </a:pPr>
            <a:r>
              <a:rPr sz="1200" b="0" i="0">
                <a:solidFill>
                  <a:srgbClr val="5B6672"/>
                </a:solidFill>
                <a:latin typeface="Calibri"/>
              </a:rPr>
              <a:t>“What are your visiting hours?”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350008"/>
            <a:ext cx="384048" cy="384048"/>
          </a:xfrm>
          <a:prstGeom prst="ellipse">
            <a:avLst/>
          </a:prstGeom>
          <a:solidFill>
            <a:srgbClr val="0E7A72"/>
          </a:solidFill>
          <a:ln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295144"/>
            <a:ext cx="10268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171B1F"/>
                </a:solidFill>
                <a:latin typeface="Calibri"/>
              </a:rPr>
              <a:t>Hospital-info detected first</a:t>
            </a:r>
          </a:p>
          <a:p>
            <a:pPr>
              <a:spcBef>
                <a:spcPts val="100"/>
              </a:spcBef>
            </a:pPr>
            <a:r>
              <a:rPr sz="1200" b="0" i="0">
                <a:solidFill>
                  <a:srgbClr val="5B6672"/>
                </a:solidFill>
                <a:latin typeface="Calibri"/>
              </a:rPr>
              <a:t>is_hospital_query() is checked before booking-flow detection, so info questions mid-booking still resolve correctly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008376"/>
            <a:ext cx="384048" cy="384048"/>
          </a:xfrm>
          <a:prstGeom prst="ellipse">
            <a:avLst/>
          </a:prstGeom>
          <a:solidFill>
            <a:srgbClr val="0E7A72"/>
          </a:solidFill>
          <a:ln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953512"/>
            <a:ext cx="10268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171B1F"/>
                </a:solidFill>
                <a:latin typeface="Calibri"/>
              </a:rPr>
              <a:t>Query expansion</a:t>
            </a:r>
          </a:p>
          <a:p>
            <a:pPr>
              <a:spcBef>
                <a:spcPts val="100"/>
              </a:spcBef>
            </a:pPr>
            <a:r>
              <a:rPr sz="1200" b="0" i="0">
                <a:solidFill>
                  <a:srgbClr val="5B6672"/>
                </a:solidFill>
                <a:latin typeface="Calibri"/>
              </a:rPr>
              <a:t>search_hospital_information() fans the query into several synonym variants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666744"/>
            <a:ext cx="384048" cy="384048"/>
          </a:xfrm>
          <a:prstGeom prst="ellipse">
            <a:avLst/>
          </a:prstGeom>
          <a:solidFill>
            <a:srgbClr val="0E7A72"/>
          </a:solidFill>
          <a:ln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611879"/>
            <a:ext cx="10268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171B1F"/>
                </a:solidFill>
                <a:latin typeface="Calibri"/>
              </a:rPr>
              <a:t>FAISS retrieval</a:t>
            </a:r>
          </a:p>
          <a:p>
            <a:pPr>
              <a:spcBef>
                <a:spcPts val="100"/>
              </a:spcBef>
            </a:pPr>
            <a:r>
              <a:rPr sz="1200" b="0" i="0">
                <a:solidFill>
                  <a:srgbClr val="5B6672"/>
                </a:solidFill>
                <a:latin typeface="Calibri"/>
              </a:rPr>
              <a:t>Each variant is searched; results are deduplicated and merged by content hash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325112"/>
            <a:ext cx="384048" cy="384048"/>
          </a:xfrm>
          <a:prstGeom prst="ellipse">
            <a:avLst/>
          </a:prstGeom>
          <a:solidFill>
            <a:srgbClr val="0E7A72"/>
          </a:solidFill>
          <a:ln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4270248"/>
            <a:ext cx="10268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171B1F"/>
                </a:solidFill>
                <a:latin typeface="Calibri"/>
              </a:rPr>
              <a:t>Domain re-ranking</a:t>
            </a:r>
          </a:p>
          <a:p>
            <a:pPr>
              <a:spcBef>
                <a:spcPts val="100"/>
              </a:spcBef>
            </a:pPr>
            <a:r>
              <a:rPr sz="1200" b="0" i="0">
                <a:solidFill>
                  <a:srgbClr val="5B6672"/>
                </a:solidFill>
                <a:latin typeface="Calibri"/>
              </a:rPr>
              <a:t>Query-type-specific rules re-order results (payment / location / leadership)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4983479"/>
            <a:ext cx="384048" cy="384048"/>
          </a:xfrm>
          <a:prstGeom prst="ellipse">
            <a:avLst/>
          </a:prstGeom>
          <a:solidFill>
            <a:srgbClr val="0E7A72"/>
          </a:solidFill>
          <a:ln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4928616"/>
            <a:ext cx="10268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171B1F"/>
                </a:solidFill>
                <a:latin typeface="Calibri"/>
              </a:rPr>
              <a:t>LLM extraction</a:t>
            </a:r>
          </a:p>
          <a:p>
            <a:pPr>
              <a:spcBef>
                <a:spcPts val="100"/>
              </a:spcBef>
            </a:pPr>
            <a:r>
              <a:rPr sz="1200" b="0" i="0">
                <a:solidFill>
                  <a:srgbClr val="5B6672"/>
                </a:solidFill>
                <a:latin typeface="Calibri"/>
              </a:rPr>
              <a:t>Top passages sent to gpt-oss-120b with a prompt scoped to “answer only from this text”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5641848"/>
            <a:ext cx="384048" cy="384048"/>
          </a:xfrm>
          <a:prstGeom prst="ellipse">
            <a:avLst/>
          </a:prstGeom>
          <a:solidFill>
            <a:srgbClr val="0E7A72"/>
          </a:solidFill>
          <a:ln>
            <a:solidFill>
              <a:srgbClr val="0E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5586984"/>
            <a:ext cx="10268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171B1F"/>
                </a:solidFill>
                <a:latin typeface="Calibri"/>
              </a:rPr>
              <a:t>Answer + citation + log</a:t>
            </a:r>
          </a:p>
          <a:p>
            <a:pPr>
              <a:spcBef>
                <a:spcPts val="100"/>
              </a:spcBef>
            </a:pPr>
            <a:r>
              <a:rPr sz="1200" b="0" i="0">
                <a:solidFill>
                  <a:srgbClr val="5B6672"/>
                </a:solidFill>
                <a:latin typeface="Calibri"/>
              </a:rPr>
              <a:t>Response returned with a source citation; query and match confidence logged for the KB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onsolas"/>
              </a:rPr>
              <a:t>KUTRRH Assistant — System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B6672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E7A72"/>
                </a:solidFill>
                <a:latin typeface="Consolas"/>
              </a:rPr>
              <a:t>09 · QUEUE PREDICTION SUBSYSTEM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675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1B1F"/>
                </a:solidFill>
                <a:latin typeface="Calibri"/>
              </a:rPr>
              <a:t>A trained model with a heuristic fallback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44168"/>
            <a:ext cx="11183112" cy="0"/>
          </a:xfrm>
          <a:prstGeom prst="line">
            <a:avLst/>
          </a:prstGeom>
          <a:ln w="12700">
            <a:solidFill>
              <a:srgbClr val="D7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00200"/>
            <a:ext cx="6492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 i="0">
                <a:solidFill>
                  <a:srgbClr val="0A5A54"/>
                </a:solidFill>
                <a:latin typeface="Calibri"/>
              </a:rPr>
              <a:t>•  Primary model  </a:t>
            </a:r>
            <a:r>
              <a:rPr sz="1400" b="0" i="0">
                <a:solidFill>
                  <a:srgbClr val="171B1F"/>
                </a:solidFill>
                <a:latin typeface="Calibri"/>
              </a:rPr>
              <a:t>Temporal Convolutional Network + squeeze-and-excitation attention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400" b="0" i="0">
                <a:solidFill>
                  <a:srgbClr val="171B1F"/>
                </a:solidFill>
                <a:latin typeface="Calibri"/>
              </a:rPr>
              <a:t>–  Trained on 144,204 real KUTRRH outpatient visit records, July 2024 – June 2025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400" b="0" i="0">
                <a:solidFill>
                  <a:srgbClr val="171B1F"/>
                </a:solidFill>
                <a:latin typeface="Calibri"/>
              </a:rPr>
              <a:t>–  Predicts a waiting time in minutes directly from hour/day/month + cyclical features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 i="0">
                <a:solidFill>
                  <a:srgbClr val="0A5A54"/>
                </a:solidFill>
                <a:latin typeface="Calibri"/>
              </a:rPr>
              <a:t>•  Fallback path  </a:t>
            </a:r>
            <a:r>
              <a:rPr sz="1400" b="0" i="0">
                <a:solidFill>
                  <a:srgbClr val="171B1F"/>
                </a:solidFill>
                <a:latin typeface="Calibri"/>
              </a:rPr>
              <a:t>Literature-derived multiplicative heuristic, used only if the .h5 artifact fails to load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 i="0">
                <a:solidFill>
                  <a:srgbClr val="0A5A54"/>
                </a:solidFill>
                <a:latin typeface="Calibri"/>
              </a:rPr>
              <a:t>•  Known limitation  </a:t>
            </a:r>
            <a:r>
              <a:rPr sz="1400" b="0" i="0">
                <a:solidFill>
                  <a:srgbClr val="171B1F"/>
                </a:solidFill>
                <a:latin typeface="Calibri"/>
              </a:rPr>
              <a:t>appointment_type is a coarse 5-category label, not the full service taxonomy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400" b="0" i="0">
                <a:solidFill>
                  <a:srgbClr val="171B1F"/>
                </a:solidFill>
                <a:latin typeface="Calibri"/>
              </a:rPr>
              <a:t>–  Training data recorded waiting time at the department level, with no service/specialty field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 i="0">
                <a:solidFill>
                  <a:srgbClr val="0A5A54"/>
                </a:solidFill>
                <a:latin typeface="Calibri"/>
              </a:rPr>
              <a:t>•  Accuracy  </a:t>
            </a:r>
            <a:r>
              <a:rPr sz="1400" b="0" i="0">
                <a:solidFill>
                  <a:srgbClr val="171B1F"/>
                </a:solidFill>
                <a:latin typeface="Calibri"/>
              </a:rPr>
              <a:t>Held-out evaluation: MAE ≈ 38 min against a ≈ 52 min average wait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1645920"/>
            <a:ext cx="1234440" cy="3840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8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 i="0">
                <a:solidFill>
                  <a:srgbClr val="248A5F"/>
                </a:solidFill>
                <a:latin typeface="Consolas"/>
              </a:rPr>
              <a:t>LOW ≤15m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0" y="2103120"/>
            <a:ext cx="1600200" cy="3840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A86B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 i="0">
                <a:solidFill>
                  <a:srgbClr val="A86B08"/>
                </a:solidFill>
                <a:latin typeface="Consolas"/>
              </a:rPr>
              <a:t>MODERATE 15–30m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2560320"/>
            <a:ext cx="1463040" cy="3840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8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 i="0">
                <a:solidFill>
                  <a:srgbClr val="B83C3C"/>
                </a:solidFill>
                <a:latin typeface="Consolas"/>
              </a:rPr>
              <a:t>HIGH &gt;30m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69480" y="3246120"/>
          <a:ext cx="44348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57400"/>
              </a:tblGrid>
              <a:tr h="49149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onsolas"/>
                        </a:rPr>
                        <a:t>Artifact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onsolas"/>
                        </a:rPr>
                        <a:t>Produced by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71B1F"/>
                          </a:solidFill>
                          <a:latin typeface="Consolas"/>
                        </a:rPr>
                        <a:t>tcn_scheduling_model.h5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71B1F"/>
                          </a:solidFill>
                          <a:latin typeface="Calibri"/>
                        </a:rPr>
                        <a:t>External Colab pipeline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71B1F"/>
                          </a:solidFill>
                          <a:latin typeface="Consolas"/>
                        </a:rPr>
                        <a:t>scaler_X.joblib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71B1F"/>
                          </a:solidFill>
                          <a:latin typeface="Calibri"/>
                        </a:rPr>
                        <a:t>RobustScaler, input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71B1F"/>
                          </a:solidFill>
                          <a:latin typeface="Consolas"/>
                        </a:rPr>
                        <a:t>y_scaler.joblib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71B1F"/>
                          </a:solidFill>
                          <a:latin typeface="Calibri"/>
                        </a:rPr>
                        <a:t>RobustScaler, output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onsolas"/>
              </a:rPr>
              <a:t>KUTRRH Assistant — System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B6672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E7A72"/>
                </a:solidFill>
                <a:latin typeface="Consolas"/>
              </a:rPr>
              <a:t>10 · KNOWLEDGE BASE SUBSYSTEM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675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1B1F"/>
                </a:solidFill>
                <a:latin typeface="Calibri"/>
              </a:rPr>
              <a:t>RAG over KUTRRH's own documents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44168"/>
            <a:ext cx="11183112" cy="0"/>
          </a:xfrm>
          <a:prstGeom prst="line">
            <a:avLst/>
          </a:prstGeom>
          <a:ln w="12700">
            <a:solidFill>
              <a:srgbClr val="D7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112014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098280"/>
              </a:tblGrid>
              <a:tr h="679268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onsolas"/>
                        </a:rPr>
                        <a:t>Stage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onsolas"/>
                        </a:rPr>
                        <a:t>Detail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71B1F"/>
                          </a:solidFill>
                          <a:latin typeface="Calibri"/>
                        </a:rPr>
                        <a:t>Ingest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71B1F"/>
                          </a:solidFill>
                          <a:latin typeface="Calibri"/>
                        </a:rPr>
                        <a:t>PDFs from hospital_docs/ via PyPDFLoader; static pages via requests + BeautifulSoup; JS-rendered pages (board, executive, directorates) via headless Selenium.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71B1F"/>
                          </a:solidFill>
                          <a:latin typeface="Calibri"/>
                        </a:rPr>
                        <a:t>Chunk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71B1F"/>
                          </a:solidFill>
                          <a:latin typeface="Calibri"/>
                        </a:rPr>
                        <a:t>RecursiveCharacterTextSplitter, 500-char chunks / 100-char overlap, with separators that keep related facts (Visiting / Contact / Services / Payment) intact.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71B1F"/>
                          </a:solidFill>
                          <a:latin typeface="Calibri"/>
                        </a:rPr>
                        <a:t>Embed &amp; index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71B1F"/>
                          </a:solidFill>
                          <a:latin typeface="Calibri"/>
                        </a:rPr>
                        <a:t>all-MiniLM-L6-v2 sentence embeddings (normalized), persisted to hospital_vector_store/ as a FAISS index.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71B1F"/>
                          </a:solidFill>
                          <a:latin typeface="Calibri"/>
                        </a:rPr>
                        <a:t>Query-time expansion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71B1F"/>
                          </a:solidFill>
                          <a:latin typeface="Calibri"/>
                        </a:rPr>
                        <a:t>Hand-written synonym sets fan one query into several (payment, hours, contact, location, leadership) before retrieval.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71B1F"/>
                          </a:solidFill>
                          <a:latin typeface="Calibri"/>
                        </a:rPr>
                        <a:t>Re-ranking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71B1F"/>
                          </a:solidFill>
                          <a:latin typeface="Calibri"/>
                        </a:rPr>
                        <a:t>Query-type-specific scoring — leadership queries strongly prefer the live kutrrh.go.ke executive page over PDFs.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71B1F"/>
                          </a:solidFill>
                          <a:latin typeface="Calibri"/>
                        </a:rPr>
                        <a:t>Extraction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71B1F"/>
                          </a:solidFill>
                          <a:latin typeface="Calibri"/>
                        </a:rPr>
                        <a:t>Top passages handed to gpt-oss-120b with a query-type-specific prompt, instructed to answer only from the supplied text.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onsolas"/>
              </a:rPr>
              <a:t>KUTRRH Assistant —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B6672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E7A72"/>
                </a:solidFill>
                <a:latin typeface="Consolas"/>
              </a:rPr>
              <a:t>11 · DATA &amp;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675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1B1F"/>
                </a:solidFill>
                <a:latin typeface="Calibri"/>
              </a:rPr>
              <a:t>Every store is a flat file on local disk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44168"/>
            <a:ext cx="11183112" cy="0"/>
          </a:xfrm>
          <a:prstGeom prst="line">
            <a:avLst/>
          </a:prstGeom>
          <a:ln w="12700">
            <a:solidFill>
              <a:srgbClr val="D7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112014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920240"/>
                <a:gridCol w="6629400"/>
              </a:tblGrid>
              <a:tr h="60579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onsolas"/>
                        </a:rPr>
                        <a:t>Path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onsolas"/>
                        </a:rPr>
                        <a:t>Format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onsolas"/>
                        </a:rPr>
                        <a:t>Holds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71B1F"/>
                          </a:solidFill>
                          <a:latin typeface="Consolas"/>
                        </a:rPr>
                        <a:t>data/appointments.json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71B1F"/>
                          </a:solidFill>
                          <a:latin typeface="Calibri"/>
                        </a:rPr>
                        <a:t>JSON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71B1F"/>
                          </a:solidFill>
                          <a:latin typeface="Calibri"/>
                        </a:rPr>
                        <a:t>Patient name/ID/phone/email, type, datetime, predicted wait, confidence, congestion, status.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71B1F"/>
                          </a:solidFill>
                          <a:latin typeface="Consolas"/>
                        </a:rPr>
                        <a:t>data/admin_users.json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71B1F"/>
                          </a:solidFill>
                          <a:latin typeface="Calibri"/>
                        </a:rPr>
                        <a:t>JSON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71B1F"/>
                          </a:solidFill>
                          <a:latin typeface="Calibri"/>
                        </a:rPr>
                        <a:t>Username, SHA-256 password hash, role.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71B1F"/>
                          </a:solidFill>
                          <a:latin typeface="Consolas"/>
                        </a:rPr>
                        <a:t>data/admin_tokens.json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71B1F"/>
                          </a:solidFill>
                          <a:latin typeface="Calibri"/>
                        </a:rPr>
                        <a:t>JSON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71B1F"/>
                          </a:solidFill>
                          <a:latin typeface="Calibri"/>
                        </a:rPr>
                        <a:t>Bearer tokens, 7-day expiry, issued per login.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71B1F"/>
                          </a:solidFill>
                          <a:latin typeface="Consolas"/>
                        </a:rPr>
                        <a:t>data/chat_analytics.jsonl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71B1F"/>
                          </a:solidFill>
                          <a:latin typeface="Calibri"/>
                        </a:rPr>
                        <a:t>JSONL, append-only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71B1F"/>
                          </a:solidFill>
                          <a:latin typeface="Calibri"/>
                        </a:rPr>
                        <a:t>Query (truncated), language, intent, latency, response length — one line per turn.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71B1F"/>
                          </a:solidFill>
                          <a:latin typeface="Consolas"/>
                        </a:rPr>
                        <a:t>data/kb_analytics.jsonl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71B1F"/>
                          </a:solidFill>
                          <a:latin typeface="Calibri"/>
                        </a:rPr>
                        <a:t>JSONL, append-only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71B1F"/>
                          </a:solidFill>
                          <a:latin typeface="Calibri"/>
                        </a:rPr>
                        <a:t>Query, top FAISS distance score, result count, found flag.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71B1F"/>
                          </a:solidFill>
                          <a:latin typeface="Consolas"/>
                        </a:rPr>
                        <a:t>hospital_vector_store/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71B1F"/>
                          </a:solidFill>
                          <a:latin typeface="Calibri"/>
                        </a:rPr>
                        <a:t>FAISS index + pickle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71B1F"/>
                          </a:solidFill>
                          <a:latin typeface="Calibri"/>
                        </a:rPr>
                        <a:t>384-dim embeddings of every chunked document and scraped page.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71B1F"/>
                          </a:solidFill>
                          <a:latin typeface="Consolas"/>
                        </a:rPr>
                        <a:t>app.log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71B1F"/>
                          </a:solidFill>
                          <a:latin typeface="Calibri"/>
                        </a:rPr>
                        <a:t>Rotating text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71B1F"/>
                          </a:solidFill>
                          <a:latin typeface="Calibri"/>
                        </a:rPr>
                        <a:t>Debug/info/error trace, 10 MB × 5 backups.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onsolas"/>
              </a:rPr>
              <a:t>KUTRRH Assistant —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B6672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E7A72"/>
                </a:solidFill>
                <a:latin typeface="Consolas"/>
              </a:rPr>
              <a:t>12 · ADMIN &amp; ANALYTICS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675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1B1F"/>
                </a:solidFill>
                <a:latin typeface="Calibri"/>
              </a:rPr>
              <a:t>A bearer-token-protected operations layer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44168"/>
            <a:ext cx="11183112" cy="0"/>
          </a:xfrm>
          <a:prstGeom prst="line">
            <a:avLst/>
          </a:prstGeom>
          <a:ln w="12700">
            <a:solidFill>
              <a:srgbClr val="D7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112014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463040"/>
                <a:gridCol w="6080760"/>
              </a:tblGrid>
              <a:tr h="493776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onsolas"/>
                        </a:rPr>
                        <a:t>Auth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onsolas"/>
                        </a:rPr>
                        <a:t>Purpose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71B1F"/>
                          </a:solidFill>
                          <a:latin typeface="Consolas"/>
                        </a:rPr>
                        <a:t>POST /admin/login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71B1F"/>
                          </a:solidFill>
                          <a:latin typeface="Calibri"/>
                        </a:rPr>
                        <a:t>credentials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71B1F"/>
                          </a:solidFill>
                          <a:latin typeface="Calibri"/>
                        </a:rPr>
                        <a:t>Issues a 7-day bearer token.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71B1F"/>
                          </a:solidFill>
                          <a:latin typeface="Consolas"/>
                        </a:rPr>
                        <a:t>POST /admin/rebuild-kb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71B1F"/>
                          </a:solidFill>
                          <a:latin typeface="Calibri"/>
                        </a:rPr>
                        <a:t>bearer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71B1F"/>
                          </a:solidFill>
                          <a:latin typeface="Calibri"/>
                        </a:rPr>
                        <a:t>Full knowledge-base rebuild from disk + configured URLs.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71B1F"/>
                          </a:solidFill>
                          <a:latin typeface="Consolas"/>
                        </a:rPr>
                        <a:t>GET /admin/appointments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71B1F"/>
                          </a:solidFill>
                          <a:latin typeface="Calibri"/>
                        </a:rPr>
                        <a:t>bearer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71B1F"/>
                          </a:solidFill>
                          <a:latin typeface="Calibri"/>
                        </a:rPr>
                        <a:t>Totals, status breakdown, by-type counts, last 100 records.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71B1F"/>
                          </a:solidFill>
                          <a:latin typeface="Consolas"/>
                        </a:rPr>
                        <a:t>GET /admin/system-status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71B1F"/>
                          </a:solidFill>
                          <a:latin typeface="Calibri"/>
                        </a:rPr>
                        <a:t>bearer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71B1F"/>
                          </a:solidFill>
                          <a:latin typeface="Calibri"/>
                        </a:rPr>
                        <a:t>KB / DB existence checks, API version.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71B1F"/>
                          </a:solidFill>
                          <a:latin typeface="Consolas"/>
                        </a:rPr>
                        <a:t>POST /admin/create-user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71B1F"/>
                          </a:solidFill>
                          <a:latin typeface="Calibri"/>
                        </a:rPr>
                        <a:t>bearer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71B1F"/>
                          </a:solidFill>
                          <a:latin typeface="Calibri"/>
                        </a:rPr>
                        <a:t>Adds another admin account.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71B1F"/>
                          </a:solidFill>
                          <a:latin typeface="Consolas"/>
                        </a:rPr>
                        <a:t>GET /admin/analytics/chat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71B1F"/>
                          </a:solidFill>
                          <a:latin typeface="Calibri"/>
                        </a:rPr>
                        <a:t>bearer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71B1F"/>
                          </a:solidFill>
                          <a:latin typeface="Calibri"/>
                        </a:rPr>
                        <a:t>Volume, language mix, intent mix, average latency, daily trend.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71B1F"/>
                          </a:solidFill>
                          <a:latin typeface="Consolas"/>
                        </a:rPr>
                        <a:t>GET /admin/analytics/knowledge-base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71B1F"/>
                          </a:solidFill>
                          <a:latin typeface="Calibri"/>
                        </a:rPr>
                        <a:t>bearer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71B1F"/>
                          </a:solidFill>
                          <a:latin typeface="Calibri"/>
                        </a:rPr>
                        <a:t>Hit rate, average match confidence, lowest-confidence queries.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71B1F"/>
                          </a:solidFill>
                          <a:latin typeface="Consolas"/>
                        </a:rPr>
                        <a:t>GET /admin/analytics/appointments-trend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71B1F"/>
                          </a:solidFill>
                          <a:latin typeface="Calibri"/>
                        </a:rPr>
                        <a:t>bearer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71B1F"/>
                          </a:solidFill>
                          <a:latin typeface="Calibri"/>
                        </a:rPr>
                        <a:t>Bookings by day, by congestion level, by hour.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71B1F"/>
                          </a:solidFill>
                          <a:latin typeface="Consolas"/>
                        </a:rPr>
                        <a:t>GET /admin/analytics/patients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71B1F"/>
                          </a:solidFill>
                          <a:latin typeface="Calibri"/>
                        </a:rPr>
                        <a:t>bearer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71B1F"/>
                          </a:solidFill>
                          <a:latin typeface="Calibri"/>
                        </a:rPr>
                        <a:t>Unique/repeat patient counts, top patients by visit count.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onsolas"/>
              </a:rPr>
              <a:t>KUTRRH Assistant —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B6672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E7A72"/>
                </a:solidFill>
                <a:latin typeface="Consolas"/>
              </a:rPr>
              <a:t>13 · CONFIGURATION &amp; SECRETS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675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1B1F"/>
                </a:solidFill>
                <a:latin typeface="Calibri"/>
              </a:rPr>
              <a:t>Three sources of truth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44168"/>
            <a:ext cx="11183112" cy="0"/>
          </a:xfrm>
          <a:prstGeom prst="line">
            <a:avLst/>
          </a:prstGeom>
          <a:ln w="12700">
            <a:solidFill>
              <a:srgbClr val="D7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11201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823960"/>
              </a:tblGrid>
              <a:tr h="6858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onsolas"/>
                        </a:rPr>
                        <a:t>Source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onsolas"/>
                        </a:rPr>
                        <a:t>Holds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71B1F"/>
                          </a:solidFill>
                          <a:latin typeface="Consolas"/>
                        </a:rPr>
                        <a:t>settings.yaml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71B1F"/>
                          </a:solidFill>
                          <a:latin typeface="Calibri"/>
                        </a:rPr>
                        <a:t>llm.model (openai/gpt-oss-120b) and the full caller_pa system prompt — hospital facts, booking steps, decision logic, language rules.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71B1F"/>
                          </a:solidFill>
                          <a:latin typeface="Consolas"/>
                        </a:rPr>
                        <a:t>constants.py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71B1F"/>
                          </a:solidFill>
                          <a:latin typeface="Calibri"/>
                        </a:rPr>
                        <a:t>GROQ_API_KEY, read from the environment; raises a hard ValueError at import time if absent.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71B1F"/>
                          </a:solidFill>
                          <a:latin typeface="Consolas"/>
                        </a:rPr>
                        <a:t>Environment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71B1F"/>
                          </a:solidFill>
                          <a:latin typeface="Calibri"/>
                        </a:rPr>
                        <a:t>GROQ_API_KEY, OPENAI_API_KEY, optional ADMIN_USERNAME/ADMIN_PASSWORD, BACKEND_URL for the Streamlit client.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onsolas"/>
              </a:rPr>
              <a:t>KUTRRH Assistant —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B6672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E7A72"/>
                </a:solidFill>
                <a:latin typeface="Consolas"/>
              </a:rPr>
              <a:t>14 ·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675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1B1F"/>
                </a:solidFill>
                <a:latin typeface="Calibri"/>
              </a:rPr>
              <a:t>Current vs. recommended topology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44168"/>
            <a:ext cx="11183112" cy="0"/>
          </a:xfrm>
          <a:prstGeom prst="line">
            <a:avLst/>
          </a:prstGeom>
          <a:ln w="12700">
            <a:solidFill>
              <a:srgbClr val="D7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5544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5B6672"/>
                </a:solidFill>
                <a:latin typeface="Consolas"/>
              </a:rPr>
              <a:t>CURRENT — docker-compose.yml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4937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 i="0">
                <a:solidFill>
                  <a:srgbClr val="171B1F"/>
                </a:solidFill>
                <a:latin typeface="Calibri"/>
              </a:rPr>
              <a:t>hospital-booking container</a:t>
            </a:r>
          </a:p>
          <a:p>
            <a:pPr algn="ctr"/>
            <a:r>
              <a:rPr sz="1000" b="0" i="0">
                <a:solidFill>
                  <a:srgbClr val="5B6672"/>
                </a:solidFill>
                <a:latin typeface="Consolas"/>
              </a:rPr>
              <a:t>streamlit run app.py :8501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20439"/>
            <a:ext cx="4937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6B0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 i="0">
                <a:solidFill>
                  <a:srgbClr val="171B1F"/>
                </a:solidFill>
                <a:latin typeface="Calibri"/>
              </a:rPr>
              <a:t>FastAPI backend :8000</a:t>
            </a:r>
          </a:p>
          <a:p>
            <a:pPr algn="ctr"/>
            <a:r>
              <a:rPr sz="1000" b="0" i="0">
                <a:solidFill>
                  <a:srgbClr val="A86B08"/>
                </a:solidFill>
                <a:latin typeface="Consolas"/>
              </a:rPr>
              <a:t>not defined in compose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71800" y="2880360"/>
            <a:ext cx="0" cy="640079"/>
          </a:xfrm>
          <a:prstGeom prst="line">
            <a:avLst/>
          </a:prstGeom>
          <a:ln w="19050">
            <a:solidFill>
              <a:srgbClr val="A86B08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86000" y="3081528"/>
            <a:ext cx="1371600" cy="237744"/>
          </a:xfrm>
          <a:prstGeom prst="rect">
            <a:avLst/>
          </a:prstGeom>
          <a:solidFill>
            <a:srgbClr val="FAFBFB"/>
          </a:solidFill>
        </p:spPr>
        <p:txBody>
          <a:bodyPr wrap="none" lIns="12700" rIns="12700" tIns="0" bIns="0">
            <a:spAutoFit/>
          </a:bodyPr>
          <a:lstStyle/>
          <a:p>
            <a:pPr algn="ctr"/>
            <a:r>
              <a:rPr sz="900" b="0" i="0">
                <a:solidFill>
                  <a:srgbClr val="5B6672"/>
                </a:solidFill>
                <a:latin typeface="Consolas"/>
              </a:rPr>
              <a:t>HTTP, target absent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709160"/>
            <a:ext cx="2331720" cy="685800"/>
          </a:xfrm>
          <a:prstGeom prst="roundRect">
            <a:avLst/>
          </a:prstGeom>
          <a:solidFill>
            <a:srgbClr val="EBEFF1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0" i="0">
                <a:solidFill>
                  <a:srgbClr val="171B1F"/>
                </a:solidFill>
                <a:latin typeface="Calibri"/>
              </a:rPr>
              <a:t>Groq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4709160"/>
            <a:ext cx="2331720" cy="685800"/>
          </a:xfrm>
          <a:prstGeom prst="roundRect">
            <a:avLst/>
          </a:prstGeom>
          <a:solidFill>
            <a:srgbClr val="EBEFF1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0" i="0">
                <a:solidFill>
                  <a:srgbClr val="171B1F"/>
                </a:solidFill>
                <a:latin typeface="Calibri"/>
              </a:rPr>
              <a:t>data/ · models/ · vector store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668780" y="4434840"/>
            <a:ext cx="315468" cy="274320"/>
          </a:xfrm>
          <a:prstGeom prst="line">
            <a:avLst/>
          </a:prstGeom>
          <a:ln w="19050">
            <a:solidFill>
              <a:srgbClr val="A86B08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59352" y="4434840"/>
            <a:ext cx="315468" cy="274320"/>
          </a:xfrm>
          <a:prstGeom prst="line">
            <a:avLst/>
          </a:prstGeom>
          <a:ln w="19050">
            <a:solidFill>
              <a:srgbClr val="A86B08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26480" y="155448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E7A72"/>
                </a:solidFill>
                <a:latin typeface="Consolas"/>
              </a:rPr>
              <a:t>RECOMMENDED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965960"/>
            <a:ext cx="5532120" cy="4251960"/>
          </a:xfrm>
          <a:prstGeom prst="roundRect">
            <a:avLst/>
          </a:prstGeom>
          <a:solidFill>
            <a:srgbClr val="FAFBFB"/>
          </a:solidFill>
          <a:ln w="12700">
            <a:solidFill>
              <a:srgbClr val="0E7A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0" i="0">
                <a:solidFill>
                  <a:srgbClr val="171B1F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0574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0E7A72"/>
                </a:solidFill>
                <a:latin typeface="Consolas"/>
              </a:rPr>
              <a:t>docker-compose network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468880"/>
            <a:ext cx="4983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171B1F"/>
                </a:solidFill>
                <a:latin typeface="Calibri"/>
              </a:rPr>
              <a:t>frontend — streamlit :8501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611880"/>
            <a:ext cx="4983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171B1F"/>
                </a:solidFill>
                <a:latin typeface="Calibri"/>
              </a:rPr>
              <a:t>backend — fastapi + uvicorn :8000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92540" y="3246120"/>
            <a:ext cx="0" cy="365760"/>
          </a:xfrm>
          <a:prstGeom prst="line">
            <a:avLst/>
          </a:prstGeom>
          <a:ln w="19050">
            <a:solidFill>
              <a:srgbClr val="0E7A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06740" y="3310128"/>
            <a:ext cx="1371600" cy="237744"/>
          </a:xfrm>
          <a:prstGeom prst="rect">
            <a:avLst/>
          </a:prstGeom>
          <a:solidFill>
            <a:srgbClr val="FAFBFB"/>
          </a:solidFill>
        </p:spPr>
        <p:txBody>
          <a:bodyPr wrap="none" lIns="12700" rIns="12700" tIns="0" bIns="0">
            <a:spAutoFit/>
          </a:bodyPr>
          <a:lstStyle/>
          <a:p>
            <a:pPr algn="ctr"/>
            <a:r>
              <a:rPr sz="900" b="0" i="0">
                <a:solidFill>
                  <a:srgbClr val="5B6672"/>
                </a:solidFill>
                <a:latin typeface="Consolas"/>
              </a:rPr>
              <a:t>HTTP :8000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754880"/>
            <a:ext cx="2377440" cy="685800"/>
          </a:xfrm>
          <a:prstGeom prst="roundRect">
            <a:avLst/>
          </a:prstGeom>
          <a:solidFill>
            <a:srgbClr val="EBEFF1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0" i="0">
                <a:solidFill>
                  <a:srgbClr val="171B1F"/>
                </a:solidFill>
                <a:latin typeface="Calibri"/>
              </a:rPr>
              <a:t>Groq API (external)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4754880"/>
            <a:ext cx="2377440" cy="685800"/>
          </a:xfrm>
          <a:prstGeom prst="roundRect">
            <a:avLst/>
          </a:prstGeom>
          <a:solidFill>
            <a:srgbClr val="EBEFF1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0" i="0">
                <a:solidFill>
                  <a:srgbClr val="171B1F"/>
                </a:solidFill>
                <a:latin typeface="Calibri"/>
              </a:rPr>
              <a:t>volumes: data/ models/ vector-store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7589520" y="4389120"/>
            <a:ext cx="306324" cy="365760"/>
          </a:xfrm>
          <a:prstGeom prst="line">
            <a:avLst/>
          </a:prstGeom>
          <a:ln w="19050">
            <a:solidFill>
              <a:srgbClr val="0E7A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889236" y="4389120"/>
            <a:ext cx="306324" cy="365760"/>
          </a:xfrm>
          <a:prstGeom prst="line">
            <a:avLst/>
          </a:prstGeom>
          <a:ln w="19050">
            <a:solidFill>
              <a:srgbClr val="0E7A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onsolas"/>
              </a:rPr>
              <a:t>KUTRRH Assistant — System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B6672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E7A72"/>
                </a:solidFill>
                <a:latin typeface="Consolas"/>
              </a:rPr>
              <a:t>15 · 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675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1B1F"/>
                </a:solidFill>
                <a:latin typeface="Calibri"/>
              </a:rPr>
              <a:t>Observed in the code, not inferred (1/2)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44168"/>
            <a:ext cx="11183112" cy="0"/>
          </a:xfrm>
          <a:prstGeom prst="line">
            <a:avLst/>
          </a:prstGeom>
          <a:ln w="12700">
            <a:solidFill>
              <a:srgbClr val="D7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1600200"/>
            <a:ext cx="11201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73152" cy="868680"/>
          </a:xfrm>
          <a:prstGeom prst="rect">
            <a:avLst/>
          </a:prstGeom>
          <a:solidFill>
            <a:srgbClr val="A86B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28216"/>
            <a:ext cx="107442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A86B08"/>
                </a:solidFill>
                <a:latin typeface="Consolas"/>
              </a:rPr>
              <a:t>DEPLOYMENT</a:t>
            </a:r>
          </a:p>
          <a:p>
            <a:pPr>
              <a:spcBef>
                <a:spcPts val="200"/>
              </a:spcBef>
            </a:pPr>
            <a:r>
              <a:rPr sz="1450" b="1" i="0">
                <a:solidFill>
                  <a:srgbClr val="171B1F"/>
                </a:solidFill>
                <a:latin typeface="Calibri"/>
              </a:rPr>
              <a:t>Backend isn't containerized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5B6672"/>
                </a:solidFill>
                <a:latin typeface="Calibri"/>
              </a:rPr>
              <a:t>docker-compose.yml defines one service. backend_api.py has no build/run entry anywhere in the Docker setup.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578608"/>
            <a:ext cx="11201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578608"/>
            <a:ext cx="73152" cy="868680"/>
          </a:xfrm>
          <a:prstGeom prst="rect">
            <a:avLst/>
          </a:prstGeom>
          <a:solidFill>
            <a:srgbClr val="A86B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706624"/>
            <a:ext cx="107442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A86B08"/>
                </a:solidFill>
                <a:latin typeface="Consolas"/>
              </a:rPr>
              <a:t>TOOLING</a:t>
            </a:r>
          </a:p>
          <a:p>
            <a:pPr>
              <a:spcBef>
                <a:spcPts val="200"/>
              </a:spcBef>
            </a:pPr>
            <a:r>
              <a:rPr sz="1450" b="1" i="0">
                <a:solidFill>
                  <a:srgbClr val="171B1F"/>
                </a:solidFill>
                <a:latin typeface="Calibri"/>
              </a:rPr>
              <a:t>Two tools are unreachable by the model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5B6672"/>
                </a:solidFill>
                <a:latin typeface="Calibri"/>
              </a:rPr>
              <a:t>suggest_alternative_slots and view_all_appointments are imported but never added to caller_tools — the LLM can never call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57015"/>
            <a:ext cx="11201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557015"/>
            <a:ext cx="73152" cy="868680"/>
          </a:xfrm>
          <a:prstGeom prst="rect">
            <a:avLst/>
          </a:prstGeom>
          <a:solidFill>
            <a:srgbClr val="A86B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685031"/>
            <a:ext cx="107442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A86B08"/>
                </a:solidFill>
                <a:latin typeface="Consolas"/>
              </a:rPr>
              <a:t>CONFIG DRIFT</a:t>
            </a:r>
          </a:p>
          <a:p>
            <a:pPr>
              <a:spcBef>
                <a:spcPts val="200"/>
              </a:spcBef>
            </a:pPr>
            <a:r>
              <a:rPr sz="1450" b="1" i="0">
                <a:solidFill>
                  <a:srgbClr val="171B1F"/>
                </a:solidFill>
                <a:latin typeface="Calibri"/>
              </a:rPr>
              <a:t>The model name is duplicated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5B6672"/>
                </a:solidFill>
                <a:latin typeface="Calibri"/>
              </a:rPr>
              <a:t>agent.py reads settings.yaml; hospital_tools.py hardcodes “openai/gpt-oss-120b” separately. They can silently drift apart.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535423"/>
            <a:ext cx="11201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535423"/>
            <a:ext cx="73152" cy="868680"/>
          </a:xfrm>
          <a:prstGeom prst="rect">
            <a:avLst/>
          </a:prstGeom>
          <a:solidFill>
            <a:srgbClr val="A86B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663439"/>
            <a:ext cx="107442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A86B08"/>
                </a:solidFill>
                <a:latin typeface="Consolas"/>
              </a:rPr>
              <a:t>SECURITY</a:t>
            </a:r>
          </a:p>
          <a:p>
            <a:pPr>
              <a:spcBef>
                <a:spcPts val="200"/>
              </a:spcBef>
            </a:pPr>
            <a:r>
              <a:rPr sz="1450" b="1" i="0">
                <a:solidFill>
                  <a:srgbClr val="171B1F"/>
                </a:solidFill>
                <a:latin typeface="Calibri"/>
              </a:rPr>
              <a:t>CORS is fully open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5B6672"/>
                </a:solidFill>
                <a:latin typeface="Calibri"/>
              </a:rPr>
              <a:t>allow_origins=[“*”] with allow_credentials=True, on an API that also carries admin bearer tokens.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onsolas"/>
              </a:rPr>
              <a:t>KUTRRH Assistant — System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B6672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E7A72"/>
                </a:solidFill>
                <a:latin typeface="Consolas"/>
              </a:rPr>
              <a:t>16 · 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675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1B1F"/>
                </a:solidFill>
                <a:latin typeface="Calibri"/>
              </a:rPr>
              <a:t>Observed in the code, not inferred (2/2)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44168"/>
            <a:ext cx="11183112" cy="0"/>
          </a:xfrm>
          <a:prstGeom prst="line">
            <a:avLst/>
          </a:prstGeom>
          <a:ln w="12700">
            <a:solidFill>
              <a:srgbClr val="D7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1600200"/>
            <a:ext cx="11201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73152" cy="868680"/>
          </a:xfrm>
          <a:prstGeom prst="rect">
            <a:avLst/>
          </a:prstGeom>
          <a:solidFill>
            <a:srgbClr val="A86B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28216"/>
            <a:ext cx="107442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A86B08"/>
                </a:solidFill>
                <a:latin typeface="Consolas"/>
              </a:rPr>
              <a:t>SECURITY</a:t>
            </a:r>
          </a:p>
          <a:p>
            <a:pPr>
              <a:spcBef>
                <a:spcPts val="200"/>
              </a:spcBef>
            </a:pPr>
            <a:r>
              <a:rPr sz="1450" b="1" i="0">
                <a:solidFill>
                  <a:srgbClr val="171B1F"/>
                </a:solidFill>
                <a:latin typeface="Calibri"/>
              </a:rPr>
              <a:t>Password hashing has no per-user salt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5B6672"/>
                </a:solidFill>
                <a:latin typeface="Calibri"/>
              </a:rPr>
              <a:t>auth.py hashes with SHA-256 over the password plus one hardcoded literal string — identical passwords hash identically everywhere.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578608"/>
            <a:ext cx="11201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578608"/>
            <a:ext cx="73152" cy="868680"/>
          </a:xfrm>
          <a:prstGeom prst="rect">
            <a:avLst/>
          </a:prstGeom>
          <a:solidFill>
            <a:srgbClr val="A86B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706624"/>
            <a:ext cx="107442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A86B08"/>
                </a:solidFill>
                <a:latin typeface="Consolas"/>
              </a:rPr>
              <a:t>CONCURRENCY</a:t>
            </a:r>
          </a:p>
          <a:p>
            <a:pPr>
              <a:spcBef>
                <a:spcPts val="200"/>
              </a:spcBef>
            </a:pPr>
            <a:r>
              <a:rPr sz="1450" b="1" i="0">
                <a:solidFill>
                  <a:srgbClr val="171B1F"/>
                </a:solidFill>
                <a:latin typeface="Calibri"/>
              </a:rPr>
              <a:t>Flat-file stores have no locking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5B6672"/>
                </a:solidFill>
                <a:latin typeface="Calibri"/>
              </a:rPr>
              <a:t>appointments.json and the JSONL logs are read-modify-written with plain open() calls; concurrent bookings can race.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57015"/>
            <a:ext cx="11201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557015"/>
            <a:ext cx="73152" cy="868680"/>
          </a:xfrm>
          <a:prstGeom prst="rect">
            <a:avLst/>
          </a:prstGeom>
          <a:solidFill>
            <a:srgbClr val="A86B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685031"/>
            <a:ext cx="107442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A86B08"/>
                </a:solidFill>
                <a:latin typeface="Consolas"/>
              </a:rPr>
              <a:t>DEPLOYMENT</a:t>
            </a:r>
          </a:p>
          <a:p>
            <a:pPr>
              <a:spcBef>
                <a:spcPts val="200"/>
              </a:spcBef>
            </a:pPr>
            <a:r>
              <a:rPr sz="1450" b="1" i="0">
                <a:solidFill>
                  <a:srgbClr val="171B1F"/>
                </a:solidFill>
                <a:latin typeface="Calibri"/>
              </a:rPr>
              <a:t>No TLS termination in the given files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5B6672"/>
                </a:solidFill>
                <a:latin typeface="Calibri"/>
              </a:rPr>
              <a:t>Both services would need a reverse proxy (nginx/Caddy) in front for anything beyond local 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535423"/>
            <a:ext cx="11201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535423"/>
            <a:ext cx="73152" cy="868680"/>
          </a:xfrm>
          <a:prstGeom prst="rect">
            <a:avLst/>
          </a:prstGeom>
          <a:solidFill>
            <a:srgbClr val="A86B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663439"/>
            <a:ext cx="107442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A86B08"/>
                </a:solidFill>
                <a:latin typeface="Consolas"/>
              </a:rPr>
              <a:t>HOUSEKEEPING</a:t>
            </a:r>
          </a:p>
          <a:p>
            <a:pPr>
              <a:spcBef>
                <a:spcPts val="200"/>
              </a:spcBef>
            </a:pPr>
            <a:r>
              <a:rPr sz="1450" b="1" i="0">
                <a:solidFill>
                  <a:srgbClr val="171B1F"/>
                </a:solidFill>
                <a:latin typeface="Calibri"/>
              </a:rPr>
              <a:t>loguru is declared but unused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5B6672"/>
                </a:solidFill>
                <a:latin typeface="Calibri"/>
              </a:rPr>
              <a:t>It's in requirements.txt; every module actually logs through the stdlib logging setup in logger.py.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onsolas"/>
              </a:rPr>
              <a:t>KUTRRH Assistant — System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B6672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E7A72"/>
                </a:solidFill>
                <a:latin typeface="Consolas"/>
              </a:rPr>
              <a:t>17 ·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675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1B1F"/>
                </a:solidFill>
                <a:latin typeface="Calibri"/>
              </a:rPr>
              <a:t>What it's actually built with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44168"/>
            <a:ext cx="11183112" cy="0"/>
          </a:xfrm>
          <a:prstGeom prst="line">
            <a:avLst/>
          </a:prstGeom>
          <a:ln w="12700">
            <a:solidFill>
              <a:srgbClr val="D7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112014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823960"/>
              </a:tblGrid>
              <a:tr h="52832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onsolas"/>
                        </a:rPr>
                        <a:t>Concern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onsolas"/>
                        </a:rPr>
                        <a:t>Libraries</a:t>
                      </a:r>
                    </a:p>
                  </a:txBody>
                  <a:tcPr marL="88900" marR="88900" marT="50800" marB="50800" anchor="ctr">
                    <a:solidFill>
                      <a:srgbClr val="0E7A72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71B1F"/>
                          </a:solidFill>
                          <a:latin typeface="Calibri"/>
                        </a:rPr>
                        <a:t>Web UI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71B1F"/>
                          </a:solidFill>
                          <a:latin typeface="Consolas"/>
                        </a:rPr>
                        <a:t>streamlit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71B1F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71B1F"/>
                          </a:solidFill>
                          <a:latin typeface="Consolas"/>
                        </a:rPr>
                        <a:t>fastapi, uvicorn, pydantic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71B1F"/>
                          </a:solidFill>
                          <a:latin typeface="Calibri"/>
                        </a:rPr>
                        <a:t>LLM orchestration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71B1F"/>
                          </a:solidFill>
                          <a:latin typeface="Consolas"/>
                        </a:rPr>
                        <a:t>langchain, langgraph, langchain-core, langchain-community, langchain-groq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71B1F"/>
                          </a:solidFill>
                          <a:latin typeface="Calibri"/>
                        </a:rPr>
                        <a:t>LLM provider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71B1F"/>
                          </a:solidFill>
                          <a:latin typeface="Consolas"/>
                        </a:rPr>
                        <a:t>Groq cloud inference — openai/gpt-oss-120b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71B1F"/>
                          </a:solidFill>
                          <a:latin typeface="Calibri"/>
                        </a:rPr>
                        <a:t>Retrieval / RAG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71B1F"/>
                          </a:solidFill>
                          <a:latin typeface="Consolas"/>
                        </a:rPr>
                        <a:t>faiss-cpu, sentence-transformers (all-MiniLM-L6-v2), PyPDF2, pdf2image, beautifulsoup4, selenium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71B1F"/>
                          </a:solidFill>
                          <a:latin typeface="Calibri"/>
                        </a:rPr>
                        <a:t>Queue ML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71B1F"/>
                          </a:solidFill>
                          <a:latin typeface="Consolas"/>
                        </a:rPr>
                        <a:t>tensorflow (Keras), scikit-learn, joblib, numpy, pandas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71B1F"/>
                          </a:solidFill>
                          <a:latin typeface="Calibri"/>
                        </a:rPr>
                        <a:t>Utilities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71B1F"/>
                          </a:solidFill>
                          <a:latin typeface="Consolas"/>
                        </a:rPr>
                        <a:t>python-dotenv, requests</a:t>
                      </a:r>
                    </a:p>
                  </a:txBody>
                  <a:tcPr marL="88900" marR="88900" marT="31750" marB="31750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71B1F"/>
                          </a:solidFill>
                          <a:latin typeface="Calibri"/>
                        </a:rPr>
                        <a:t>Runtime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71B1F"/>
                          </a:solidFill>
                          <a:latin typeface="Consolas"/>
                        </a:rPr>
                        <a:t>Python 3.11-slim (Docker); Windows 11 development environment</a:t>
                      </a:r>
                    </a:p>
                  </a:txBody>
                  <a:tcPr marL="88900" marR="88900" marT="31750" marB="31750" anchor="ctr">
                    <a:solidFill>
                      <a:srgbClr val="EBEF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onsolas"/>
              </a:rPr>
              <a:t>KUTRRH Assistant —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B6672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8229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0E7A72"/>
                </a:solidFill>
                <a:latin typeface="Consolas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11887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libri"/>
              </a:rPr>
              <a:t>Reliability comes from restraint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340864"/>
            <a:ext cx="128016" cy="128016"/>
          </a:xfrm>
          <a:prstGeom prst="ellipse">
            <a:avLst/>
          </a:prstGeom>
          <a:solidFill>
            <a:srgbClr val="0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7627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D6DEE2"/>
                </a:solidFill>
                <a:latin typeface="Calibri"/>
              </a:rPr>
              <a:t>Deterministic Python resolves the booking happy-path and every hospital-info query — the LLM is a narrow, well-scoped fallback, not the router.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3392424"/>
            <a:ext cx="128016" cy="128016"/>
          </a:xfrm>
          <a:prstGeom prst="ellipse">
            <a:avLst/>
          </a:prstGeom>
          <a:solidFill>
            <a:srgbClr val="0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2278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D6DEE2"/>
                </a:solidFill>
                <a:latin typeface="Calibri"/>
              </a:rPr>
              <a:t>The queue model is trained on 144,204 real KUTRRH records; the knowledge base is grounded in KUTRRH's own documents. Neither guesses.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443983"/>
            <a:ext cx="128016" cy="128016"/>
          </a:xfrm>
          <a:prstGeom prst="ellipse">
            <a:avLst/>
          </a:prstGeom>
          <a:solidFill>
            <a:srgbClr val="0E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793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D6DEE2"/>
                </a:solidFill>
                <a:latin typeface="Calibri"/>
              </a:rPr>
              <a:t>The architecture is sound; the deployment and hardening around it (containerized backend, scoped CORS, salted auth, file locking) is the remaining work.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126480"/>
            <a:ext cx="4983480" cy="0"/>
          </a:xfrm>
          <a:prstGeom prst="line">
            <a:avLst/>
          </a:prstGeom>
          <a:ln w="12700">
            <a:solidFill>
              <a:srgbClr val="2A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2362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8B97A3"/>
                </a:solidFill>
                <a:latin typeface="Consolas"/>
              </a:rPr>
              <a:t>KUTRRH Assistant — System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